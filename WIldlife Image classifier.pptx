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Canva Sans" panose="020B0604020202020204" charset="0"/>
      <p:regular r:id="rId22"/>
    </p:embeddedFont>
    <p:embeddedFont>
      <p:font typeface="Canva Sans Bold" panose="020B0604020202020204" charset="0"/>
      <p:regular r:id="rId23"/>
    </p:embeddedFont>
    <p:embeddedFont>
      <p:font typeface="Montserrat" panose="00000500000000000000" pitchFamily="2" charset="0"/>
      <p:regular r:id="rId24"/>
      <p:bold r:id="rId25"/>
      <p:italic r:id="rId26"/>
      <p:boldItalic r:id="rId27"/>
    </p:embeddedFont>
    <p:embeddedFont>
      <p:font typeface="Montserrat Bold" panose="00000800000000000000" charset="0"/>
      <p:regular r:id="rId28"/>
    </p:embeddedFont>
    <p:embeddedFont>
      <p:font typeface="Open Sauce" panose="020B0604020202020204" charset="0"/>
      <p:regular r:id="rId29"/>
    </p:embeddedFont>
    <p:embeddedFont>
      <p:font typeface="Open Sauce Bold" panose="020B0604020202020204" charset="0"/>
      <p:regular r:id="rId30"/>
    </p:embeddedFont>
    <p:embeddedFont>
      <p:font typeface="Open Sauce Heavy" panose="020B0604020202020204" charset="0"/>
      <p:regular r:id="rId31"/>
    </p:embeddedFont>
    <p:embeddedFont>
      <p:font typeface="Open Sauce Italics" panose="020B0604020202020204" charset="0"/>
      <p:regular r:id="rId32"/>
    </p:embeddedFont>
    <p:embeddedFont>
      <p:font typeface="Poppins" panose="00000500000000000000" pitchFamily="2"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94622" autoAdjust="0"/>
  </p:normalViewPr>
  <p:slideViewPr>
    <p:cSldViewPr>
      <p:cViewPr>
        <p:scale>
          <a:sx n="49" d="100"/>
          <a:sy n="49" d="100"/>
        </p:scale>
        <p:origin x="22"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heme" Target="theme/theme1.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12.05.2025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Sharon from slides 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Wambui for the next 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Habshi because it is what he worked 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Ian Bett up to deployment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will stop sharing my screen and hand over to Franklin who will take over and walk us through deployment.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jpeg"/><Relationship Id="rId12"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11" Type="http://schemas.openxmlformats.org/officeDocument/2006/relationships/image" Target="../media/image15.png"/><Relationship Id="rId5" Type="http://schemas.openxmlformats.org/officeDocument/2006/relationships/image" Target="../media/image9.jpeg"/><Relationship Id="rId15" Type="http://schemas.openxmlformats.org/officeDocument/2006/relationships/image" Target="../media/image19.jpe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5.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6.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7.jpeg"/><Relationship Id="rId11" Type="http://schemas.openxmlformats.org/officeDocument/2006/relationships/image" Target="../media/image42.png"/><Relationship Id="rId5" Type="http://schemas.openxmlformats.org/officeDocument/2006/relationships/image" Target="../media/image36.jpeg"/><Relationship Id="rId10" Type="http://schemas.openxmlformats.org/officeDocument/2006/relationships/image" Target="../media/image41.png"/><Relationship Id="rId4" Type="http://schemas.openxmlformats.org/officeDocument/2006/relationships/image" Target="../media/image35.jpeg"/><Relationship Id="rId9" Type="http://schemas.openxmlformats.org/officeDocument/2006/relationships/image" Target="../media/image40.png"/></Relationships>
</file>

<file path=ppt/slides/_rels/slide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s/_rels/slide9.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6.svg"/><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a:off x="15047759" y="3749017"/>
            <a:ext cx="3240241" cy="6504134"/>
          </a:xfrm>
          <a:custGeom>
            <a:avLst/>
            <a:gdLst/>
            <a:ahLst/>
            <a:cxnLst/>
            <a:rect l="l" t="t" r="r" b="b"/>
            <a:pathLst>
              <a:path w="3240241" h="6504134">
                <a:moveTo>
                  <a:pt x="0" y="0"/>
                </a:moveTo>
                <a:lnTo>
                  <a:pt x="3240241" y="0"/>
                </a:lnTo>
                <a:lnTo>
                  <a:pt x="3240241" y="6504133"/>
                </a:lnTo>
                <a:lnTo>
                  <a:pt x="0" y="65041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13032403" y="-1448305"/>
            <a:ext cx="5255597" cy="13183610"/>
            <a:chOff x="0" y="0"/>
            <a:chExt cx="1384190" cy="3472227"/>
          </a:xfrm>
        </p:grpSpPr>
        <p:sp>
          <p:nvSpPr>
            <p:cNvPr id="4" name="Freeform 4"/>
            <p:cNvSpPr/>
            <p:nvPr/>
          </p:nvSpPr>
          <p:spPr>
            <a:xfrm>
              <a:off x="0" y="0"/>
              <a:ext cx="1384190" cy="3472226"/>
            </a:xfrm>
            <a:custGeom>
              <a:avLst/>
              <a:gdLst/>
              <a:ahLst/>
              <a:cxnLst/>
              <a:rect l="l" t="t" r="r" b="b"/>
              <a:pathLst>
                <a:path w="1384190" h="3472226">
                  <a:moveTo>
                    <a:pt x="0" y="0"/>
                  </a:moveTo>
                  <a:lnTo>
                    <a:pt x="1384190" y="0"/>
                  </a:lnTo>
                  <a:lnTo>
                    <a:pt x="1384190" y="3472226"/>
                  </a:lnTo>
                  <a:lnTo>
                    <a:pt x="0" y="3472226"/>
                  </a:lnTo>
                  <a:close/>
                </a:path>
              </a:pathLst>
            </a:custGeom>
            <a:solidFill>
              <a:srgbClr val="1C5739"/>
            </a:solidFill>
          </p:spPr>
        </p:sp>
        <p:sp>
          <p:nvSpPr>
            <p:cNvPr id="5" name="TextBox 5"/>
            <p:cNvSpPr txBox="1"/>
            <p:nvPr/>
          </p:nvSpPr>
          <p:spPr>
            <a:xfrm>
              <a:off x="0" y="-19050"/>
              <a:ext cx="1384190" cy="3491277"/>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9432880" y="1526000"/>
            <a:ext cx="7234999" cy="7234999"/>
          </a:xfrm>
          <a:custGeom>
            <a:avLst/>
            <a:gdLst/>
            <a:ahLst/>
            <a:cxnLst/>
            <a:rect l="l" t="t" r="r" b="b"/>
            <a:pathLst>
              <a:path w="7234999" h="7234999">
                <a:moveTo>
                  <a:pt x="0" y="0"/>
                </a:moveTo>
                <a:lnTo>
                  <a:pt x="7234999" y="0"/>
                </a:lnTo>
                <a:lnTo>
                  <a:pt x="7234999" y="7235000"/>
                </a:lnTo>
                <a:lnTo>
                  <a:pt x="0" y="723500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grpSp>
        <p:nvGrpSpPr>
          <p:cNvPr id="7" name="Group 7"/>
          <p:cNvGrpSpPr/>
          <p:nvPr/>
        </p:nvGrpSpPr>
        <p:grpSpPr>
          <a:xfrm>
            <a:off x="10106590" y="2199722"/>
            <a:ext cx="5887580" cy="5887556"/>
            <a:chOff x="0" y="0"/>
            <a:chExt cx="6350000" cy="6349975"/>
          </a:xfrm>
        </p:grpSpPr>
        <p:sp>
          <p:nvSpPr>
            <p:cNvPr id="8" name="Freeform 8"/>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7"/>
              <a:stretch>
                <a:fillRect l="-31221" r="-31221"/>
              </a:stretch>
            </a:blipFill>
          </p:spPr>
        </p:sp>
      </p:grpSp>
      <p:grpSp>
        <p:nvGrpSpPr>
          <p:cNvPr id="9" name="Group 9"/>
          <p:cNvGrpSpPr/>
          <p:nvPr/>
        </p:nvGrpSpPr>
        <p:grpSpPr>
          <a:xfrm>
            <a:off x="1057435" y="3489495"/>
            <a:ext cx="78988" cy="3562352"/>
            <a:chOff x="0" y="0"/>
            <a:chExt cx="20803" cy="938233"/>
          </a:xfrm>
        </p:grpSpPr>
        <p:sp>
          <p:nvSpPr>
            <p:cNvPr id="10" name="Freeform 10"/>
            <p:cNvSpPr/>
            <p:nvPr/>
          </p:nvSpPr>
          <p:spPr>
            <a:xfrm>
              <a:off x="0" y="0"/>
              <a:ext cx="20803" cy="938233"/>
            </a:xfrm>
            <a:custGeom>
              <a:avLst/>
              <a:gdLst/>
              <a:ahLst/>
              <a:cxnLst/>
              <a:rect l="l" t="t" r="r" b="b"/>
              <a:pathLst>
                <a:path w="20803" h="938233">
                  <a:moveTo>
                    <a:pt x="0" y="0"/>
                  </a:moveTo>
                  <a:lnTo>
                    <a:pt x="20803" y="0"/>
                  </a:lnTo>
                  <a:lnTo>
                    <a:pt x="20803" y="938233"/>
                  </a:lnTo>
                  <a:lnTo>
                    <a:pt x="0" y="938233"/>
                  </a:lnTo>
                  <a:close/>
                </a:path>
              </a:pathLst>
            </a:custGeom>
            <a:solidFill>
              <a:srgbClr val="123D33"/>
            </a:solidFill>
            <a:ln cap="sq">
              <a:noFill/>
              <a:prstDash val="solid"/>
              <a:miter/>
            </a:ln>
          </p:spPr>
        </p:sp>
        <p:sp>
          <p:nvSpPr>
            <p:cNvPr id="11" name="TextBox 11"/>
            <p:cNvSpPr txBox="1"/>
            <p:nvPr/>
          </p:nvSpPr>
          <p:spPr>
            <a:xfrm>
              <a:off x="0" y="-19050"/>
              <a:ext cx="20803" cy="957283"/>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12" name="TextBox 12"/>
          <p:cNvSpPr txBox="1"/>
          <p:nvPr/>
        </p:nvSpPr>
        <p:spPr>
          <a:xfrm>
            <a:off x="1387521" y="3346620"/>
            <a:ext cx="7214594" cy="1285511"/>
          </a:xfrm>
          <a:prstGeom prst="rect">
            <a:avLst/>
          </a:prstGeom>
        </p:spPr>
        <p:txBody>
          <a:bodyPr lIns="0" tIns="0" rIns="0" bIns="0" rtlCol="0" anchor="t">
            <a:spAutoFit/>
          </a:bodyPr>
          <a:lstStyle/>
          <a:p>
            <a:pPr algn="l">
              <a:lnSpc>
                <a:spcPts val="10510"/>
              </a:lnSpc>
            </a:pPr>
            <a:r>
              <a:rPr lang="en-US" sz="7507" b="1" spc="-150">
                <a:solidFill>
                  <a:srgbClr val="191919"/>
                </a:solidFill>
                <a:latin typeface="Open Sauce Bold"/>
                <a:ea typeface="Open Sauce Bold"/>
                <a:cs typeface="Open Sauce Bold"/>
                <a:sym typeface="Open Sauce Bold"/>
              </a:rPr>
              <a:t>Wildlife</a:t>
            </a:r>
          </a:p>
        </p:txBody>
      </p:sp>
      <p:sp>
        <p:nvSpPr>
          <p:cNvPr id="13" name="TextBox 13"/>
          <p:cNvSpPr txBox="1"/>
          <p:nvPr/>
        </p:nvSpPr>
        <p:spPr>
          <a:xfrm>
            <a:off x="1387521" y="4479731"/>
            <a:ext cx="8045359" cy="1362996"/>
          </a:xfrm>
          <a:prstGeom prst="rect">
            <a:avLst/>
          </a:prstGeom>
        </p:spPr>
        <p:txBody>
          <a:bodyPr lIns="0" tIns="0" rIns="0" bIns="0" rtlCol="0" anchor="t">
            <a:spAutoFit/>
          </a:bodyPr>
          <a:lstStyle/>
          <a:p>
            <a:pPr algn="l">
              <a:lnSpc>
                <a:spcPts val="11125"/>
              </a:lnSpc>
            </a:pPr>
            <a:r>
              <a:rPr lang="en-US" sz="7946" b="1" spc="-158">
                <a:solidFill>
                  <a:srgbClr val="191919"/>
                </a:solidFill>
                <a:latin typeface="Open Sauce Heavy"/>
                <a:ea typeface="Open Sauce Heavy"/>
                <a:cs typeface="Open Sauce Heavy"/>
                <a:sym typeface="Open Sauce Heavy"/>
              </a:rPr>
              <a:t>Image Classifier </a:t>
            </a:r>
          </a:p>
        </p:txBody>
      </p:sp>
      <p:sp>
        <p:nvSpPr>
          <p:cNvPr id="14" name="TextBox 14"/>
          <p:cNvSpPr txBox="1"/>
          <p:nvPr/>
        </p:nvSpPr>
        <p:spPr>
          <a:xfrm>
            <a:off x="1387521" y="6550297"/>
            <a:ext cx="6832368" cy="498675"/>
          </a:xfrm>
          <a:prstGeom prst="rect">
            <a:avLst/>
          </a:prstGeom>
        </p:spPr>
        <p:txBody>
          <a:bodyPr lIns="0" tIns="0" rIns="0" bIns="0" rtlCol="0" anchor="t">
            <a:spAutoFit/>
          </a:bodyPr>
          <a:lstStyle/>
          <a:p>
            <a:pPr algn="l">
              <a:lnSpc>
                <a:spcPts val="4195"/>
              </a:lnSpc>
            </a:pPr>
            <a:r>
              <a:rPr lang="en-US" sz="3018" spc="241">
                <a:solidFill>
                  <a:srgbClr val="191919"/>
                </a:solidFill>
                <a:latin typeface="Open Sauce"/>
                <a:ea typeface="Open Sauce"/>
                <a:cs typeface="Open Sauce"/>
                <a:sym typeface="Open Sauce"/>
              </a:rPr>
              <a:t>The True Positives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0" y="0"/>
            <a:ext cx="18288000" cy="3086100"/>
            <a:chOff x="0" y="0"/>
            <a:chExt cx="4816593" cy="812800"/>
          </a:xfrm>
        </p:grpSpPr>
        <p:sp>
          <p:nvSpPr>
            <p:cNvPr id="4" name="Freeform 4"/>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1C5739"/>
            </a:solidFill>
          </p:spPr>
        </p:sp>
        <p:sp>
          <p:nvSpPr>
            <p:cNvPr id="5" name="TextBox 5"/>
            <p:cNvSpPr txBox="1"/>
            <p:nvPr/>
          </p:nvSpPr>
          <p:spPr>
            <a:xfrm>
              <a:off x="0" y="-19050"/>
              <a:ext cx="4816593" cy="831850"/>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rot="-5400000">
            <a:off x="-588840" y="4728801"/>
            <a:ext cx="4543820" cy="2886798"/>
          </a:xfrm>
          <a:custGeom>
            <a:avLst/>
            <a:gdLst/>
            <a:ahLst/>
            <a:cxnLst/>
            <a:rect l="l" t="t" r="r" b="b"/>
            <a:pathLst>
              <a:path w="4543820" h="2886798">
                <a:moveTo>
                  <a:pt x="0" y="0"/>
                </a:moveTo>
                <a:lnTo>
                  <a:pt x="4543820" y="0"/>
                </a:lnTo>
                <a:lnTo>
                  <a:pt x="4543820" y="2886798"/>
                </a:lnTo>
                <a:lnTo>
                  <a:pt x="0" y="28867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a:grpSpLocks noChangeAspect="1"/>
          </p:cNvGrpSpPr>
          <p:nvPr/>
        </p:nvGrpSpPr>
        <p:grpSpPr>
          <a:xfrm>
            <a:off x="428365" y="4063707"/>
            <a:ext cx="2532323" cy="2522431"/>
            <a:chOff x="0" y="0"/>
            <a:chExt cx="6502400" cy="6477000"/>
          </a:xfrm>
        </p:grpSpPr>
        <p:sp>
          <p:nvSpPr>
            <p:cNvPr id="8" name="Freeform 8"/>
            <p:cNvSpPr/>
            <p:nvPr/>
          </p:nvSpPr>
          <p:spPr>
            <a:xfrm>
              <a:off x="-23042" y="119185"/>
              <a:ext cx="6542159" cy="6244242"/>
            </a:xfrm>
            <a:custGeom>
              <a:avLst/>
              <a:gdLst/>
              <a:ahLst/>
              <a:cxnLst/>
              <a:rect l="l" t="t" r="r" b="b"/>
              <a:pathLst>
                <a:path w="6542159" h="6244242">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5"/>
              <a:stretch>
                <a:fillRect l="223" t="-18551" r="223" b="-18551"/>
              </a:stretch>
            </a:blipFill>
          </p:spPr>
        </p:sp>
        <p:sp>
          <p:nvSpPr>
            <p:cNvPr id="9" name="Freeform 9"/>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FFBFB"/>
            </a:solidFill>
          </p:spPr>
        </p:sp>
      </p:grpSp>
      <p:sp>
        <p:nvSpPr>
          <p:cNvPr id="10" name="Freeform 10"/>
          <p:cNvSpPr/>
          <p:nvPr/>
        </p:nvSpPr>
        <p:spPr>
          <a:xfrm rot="-5400000">
            <a:off x="3063297" y="4732541"/>
            <a:ext cx="4539246" cy="2883892"/>
          </a:xfrm>
          <a:custGeom>
            <a:avLst/>
            <a:gdLst/>
            <a:ahLst/>
            <a:cxnLst/>
            <a:rect l="l" t="t" r="r" b="b"/>
            <a:pathLst>
              <a:path w="4539246" h="2883892">
                <a:moveTo>
                  <a:pt x="0" y="0"/>
                </a:moveTo>
                <a:lnTo>
                  <a:pt x="4539246" y="0"/>
                </a:lnTo>
                <a:lnTo>
                  <a:pt x="4539246" y="2883892"/>
                </a:lnTo>
                <a:lnTo>
                  <a:pt x="0" y="2883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rot="-5400000">
            <a:off x="6710860" y="4724227"/>
            <a:ext cx="4543820" cy="2886798"/>
          </a:xfrm>
          <a:custGeom>
            <a:avLst/>
            <a:gdLst/>
            <a:ahLst/>
            <a:cxnLst/>
            <a:rect l="l" t="t" r="r" b="b"/>
            <a:pathLst>
              <a:path w="4543820" h="2886798">
                <a:moveTo>
                  <a:pt x="0" y="0"/>
                </a:moveTo>
                <a:lnTo>
                  <a:pt x="4543820" y="0"/>
                </a:lnTo>
                <a:lnTo>
                  <a:pt x="4543820" y="2886798"/>
                </a:lnTo>
                <a:lnTo>
                  <a:pt x="0" y="28867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a:grpSpLocks noChangeAspect="1"/>
          </p:cNvGrpSpPr>
          <p:nvPr/>
        </p:nvGrpSpPr>
        <p:grpSpPr>
          <a:xfrm>
            <a:off x="7617178" y="3900290"/>
            <a:ext cx="2706695" cy="2696122"/>
            <a:chOff x="0" y="0"/>
            <a:chExt cx="6502400" cy="6477000"/>
          </a:xfrm>
        </p:grpSpPr>
        <p:sp>
          <p:nvSpPr>
            <p:cNvPr id="13" name="Freeform 13"/>
            <p:cNvSpPr/>
            <p:nvPr/>
          </p:nvSpPr>
          <p:spPr>
            <a:xfrm>
              <a:off x="-23042" y="119185"/>
              <a:ext cx="6542159" cy="6244242"/>
            </a:xfrm>
            <a:custGeom>
              <a:avLst/>
              <a:gdLst/>
              <a:ahLst/>
              <a:cxnLst/>
              <a:rect l="l" t="t" r="r" b="b"/>
              <a:pathLst>
                <a:path w="6542159" h="6244242">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6"/>
              <a:stretch>
                <a:fillRect l="223" t="-5894" r="223" b="-27437"/>
              </a:stretch>
            </a:blipFill>
          </p:spPr>
        </p:sp>
        <p:sp>
          <p:nvSpPr>
            <p:cNvPr id="14" name="Freeform 14"/>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2F2F2"/>
            </a:solidFill>
          </p:spPr>
        </p:sp>
      </p:grpSp>
      <p:sp>
        <p:nvSpPr>
          <p:cNvPr id="15" name="Freeform 15"/>
          <p:cNvSpPr/>
          <p:nvPr/>
        </p:nvSpPr>
        <p:spPr>
          <a:xfrm rot="-5400000">
            <a:off x="10382075" y="4732541"/>
            <a:ext cx="4539246" cy="2883892"/>
          </a:xfrm>
          <a:custGeom>
            <a:avLst/>
            <a:gdLst/>
            <a:ahLst/>
            <a:cxnLst/>
            <a:rect l="l" t="t" r="r" b="b"/>
            <a:pathLst>
              <a:path w="4539246" h="2883892">
                <a:moveTo>
                  <a:pt x="0" y="0"/>
                </a:moveTo>
                <a:lnTo>
                  <a:pt x="4539247" y="0"/>
                </a:lnTo>
                <a:lnTo>
                  <a:pt x="4539247" y="2883892"/>
                </a:lnTo>
                <a:lnTo>
                  <a:pt x="0" y="2883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6" name="Group 16"/>
          <p:cNvGrpSpPr>
            <a:grpSpLocks noChangeAspect="1"/>
          </p:cNvGrpSpPr>
          <p:nvPr/>
        </p:nvGrpSpPr>
        <p:grpSpPr>
          <a:xfrm>
            <a:off x="11411439" y="4079534"/>
            <a:ext cx="2706695" cy="2696122"/>
            <a:chOff x="0" y="0"/>
            <a:chExt cx="6502400" cy="6477000"/>
          </a:xfrm>
        </p:grpSpPr>
        <p:sp>
          <p:nvSpPr>
            <p:cNvPr id="17" name="Freeform 17"/>
            <p:cNvSpPr/>
            <p:nvPr/>
          </p:nvSpPr>
          <p:spPr>
            <a:xfrm>
              <a:off x="-23042" y="119185"/>
              <a:ext cx="6542159" cy="6244242"/>
            </a:xfrm>
            <a:custGeom>
              <a:avLst/>
              <a:gdLst/>
              <a:ahLst/>
              <a:cxnLst/>
              <a:rect l="l" t="t" r="r" b="b"/>
              <a:pathLst>
                <a:path w="6542159" h="6244242">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7"/>
              <a:stretch>
                <a:fillRect l="-6059" r="-6059"/>
              </a:stretch>
            </a:blipFill>
          </p:spPr>
        </p:sp>
        <p:sp>
          <p:nvSpPr>
            <p:cNvPr id="18" name="Freeform 18"/>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2F2F2"/>
            </a:solidFill>
          </p:spPr>
        </p:sp>
      </p:grpSp>
      <p:sp>
        <p:nvSpPr>
          <p:cNvPr id="19" name="Freeform 19"/>
          <p:cNvSpPr/>
          <p:nvPr/>
        </p:nvSpPr>
        <p:spPr>
          <a:xfrm rot="-5400000">
            <a:off x="14051623" y="4733375"/>
            <a:ext cx="4543820" cy="2886798"/>
          </a:xfrm>
          <a:custGeom>
            <a:avLst/>
            <a:gdLst/>
            <a:ahLst/>
            <a:cxnLst/>
            <a:rect l="l" t="t" r="r" b="b"/>
            <a:pathLst>
              <a:path w="4543820" h="2886798">
                <a:moveTo>
                  <a:pt x="0" y="0"/>
                </a:moveTo>
                <a:lnTo>
                  <a:pt x="4543820" y="0"/>
                </a:lnTo>
                <a:lnTo>
                  <a:pt x="4543820" y="2886798"/>
                </a:lnTo>
                <a:lnTo>
                  <a:pt x="0" y="28867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0" name="Group 20"/>
          <p:cNvGrpSpPr>
            <a:grpSpLocks noChangeAspect="1"/>
          </p:cNvGrpSpPr>
          <p:nvPr/>
        </p:nvGrpSpPr>
        <p:grpSpPr>
          <a:xfrm>
            <a:off x="15068827" y="4068281"/>
            <a:ext cx="2532323" cy="2522431"/>
            <a:chOff x="0" y="0"/>
            <a:chExt cx="6502400" cy="6477000"/>
          </a:xfrm>
        </p:grpSpPr>
        <p:sp>
          <p:nvSpPr>
            <p:cNvPr id="21" name="Freeform 21"/>
            <p:cNvSpPr/>
            <p:nvPr/>
          </p:nvSpPr>
          <p:spPr>
            <a:xfrm>
              <a:off x="-23042" y="119185"/>
              <a:ext cx="6542159" cy="6244242"/>
            </a:xfrm>
            <a:custGeom>
              <a:avLst/>
              <a:gdLst/>
              <a:ahLst/>
              <a:cxnLst/>
              <a:rect l="l" t="t" r="r" b="b"/>
              <a:pathLst>
                <a:path w="6542159" h="6244242">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8"/>
              <a:stretch>
                <a:fillRect l="223" t="-61109" r="223" b="-61109"/>
              </a:stretch>
            </a:blipFill>
          </p:spPr>
        </p:sp>
        <p:sp>
          <p:nvSpPr>
            <p:cNvPr id="22" name="Freeform 22"/>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FFBFB"/>
            </a:solidFill>
          </p:spPr>
        </p:sp>
      </p:grpSp>
      <p:sp>
        <p:nvSpPr>
          <p:cNvPr id="23" name="Freeform 23"/>
          <p:cNvSpPr/>
          <p:nvPr/>
        </p:nvSpPr>
        <p:spPr>
          <a:xfrm>
            <a:off x="-1586068" y="-1808676"/>
            <a:ext cx="3172137" cy="4114800"/>
          </a:xfrm>
          <a:custGeom>
            <a:avLst/>
            <a:gdLst/>
            <a:ahLst/>
            <a:cxnLst/>
            <a:rect l="l" t="t" r="r" b="b"/>
            <a:pathLst>
              <a:path w="3172137" h="4114800">
                <a:moveTo>
                  <a:pt x="0" y="0"/>
                </a:moveTo>
                <a:lnTo>
                  <a:pt x="3172136" y="0"/>
                </a:lnTo>
                <a:lnTo>
                  <a:pt x="3172136"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4" name="Freeform 24"/>
          <p:cNvSpPr/>
          <p:nvPr/>
        </p:nvSpPr>
        <p:spPr>
          <a:xfrm>
            <a:off x="-874585" y="9258300"/>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5" name="Freeform 25"/>
          <p:cNvSpPr/>
          <p:nvPr/>
        </p:nvSpPr>
        <p:spPr>
          <a:xfrm>
            <a:off x="16384715" y="-413585"/>
            <a:ext cx="3806571" cy="2083232"/>
          </a:xfrm>
          <a:custGeom>
            <a:avLst/>
            <a:gdLst/>
            <a:ahLst/>
            <a:cxnLst/>
            <a:rect l="l" t="t" r="r" b="b"/>
            <a:pathLst>
              <a:path w="3806571" h="2083232">
                <a:moveTo>
                  <a:pt x="0" y="0"/>
                </a:moveTo>
                <a:lnTo>
                  <a:pt x="3806570" y="0"/>
                </a:lnTo>
                <a:lnTo>
                  <a:pt x="3806570" y="2083233"/>
                </a:lnTo>
                <a:lnTo>
                  <a:pt x="0" y="208323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26" name="Group 26"/>
          <p:cNvGrpSpPr>
            <a:grpSpLocks noChangeAspect="1"/>
          </p:cNvGrpSpPr>
          <p:nvPr/>
        </p:nvGrpSpPr>
        <p:grpSpPr>
          <a:xfrm>
            <a:off x="3979573" y="4079534"/>
            <a:ext cx="2706695" cy="2696122"/>
            <a:chOff x="0" y="0"/>
            <a:chExt cx="6502400" cy="6477000"/>
          </a:xfrm>
        </p:grpSpPr>
        <p:sp>
          <p:nvSpPr>
            <p:cNvPr id="27" name="Freeform 27"/>
            <p:cNvSpPr/>
            <p:nvPr/>
          </p:nvSpPr>
          <p:spPr>
            <a:xfrm>
              <a:off x="-23042" y="119185"/>
              <a:ext cx="6542159" cy="6244242"/>
            </a:xfrm>
            <a:custGeom>
              <a:avLst/>
              <a:gdLst/>
              <a:ahLst/>
              <a:cxnLst/>
              <a:rect l="l" t="t" r="r" b="b"/>
              <a:pathLst>
                <a:path w="6542159" h="6244242">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15"/>
              <a:stretch>
                <a:fillRect l="223" t="-16526" r="223" b="-16526"/>
              </a:stretch>
            </a:blipFill>
          </p:spPr>
        </p:sp>
        <p:sp>
          <p:nvSpPr>
            <p:cNvPr id="28" name="Freeform 28"/>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2F2F2"/>
            </a:solidFill>
          </p:spPr>
        </p:sp>
      </p:grpSp>
      <p:sp>
        <p:nvSpPr>
          <p:cNvPr id="29" name="TextBox 29"/>
          <p:cNvSpPr txBox="1"/>
          <p:nvPr/>
        </p:nvSpPr>
        <p:spPr>
          <a:xfrm>
            <a:off x="405453" y="6764979"/>
            <a:ext cx="2454839" cy="756853"/>
          </a:xfrm>
          <a:prstGeom prst="rect">
            <a:avLst/>
          </a:prstGeom>
        </p:spPr>
        <p:txBody>
          <a:bodyPr lIns="0" tIns="0" rIns="0" bIns="0" rtlCol="0" anchor="t">
            <a:spAutoFit/>
          </a:bodyPr>
          <a:lstStyle/>
          <a:p>
            <a:pPr algn="ctr">
              <a:lnSpc>
                <a:spcPts val="3074"/>
              </a:lnSpc>
            </a:pPr>
            <a:r>
              <a:rPr lang="en-US" sz="2562" spc="128">
                <a:solidFill>
                  <a:srgbClr val="FFFBFB"/>
                </a:solidFill>
                <a:latin typeface="Open Sauce"/>
                <a:ea typeface="Open Sauce"/>
                <a:cs typeface="Open Sauce"/>
                <a:sym typeface="Open Sauce"/>
              </a:rPr>
              <a:t>Habshi </a:t>
            </a:r>
          </a:p>
          <a:p>
            <a:pPr algn="ctr">
              <a:lnSpc>
                <a:spcPts val="3074"/>
              </a:lnSpc>
            </a:pPr>
            <a:r>
              <a:rPr lang="en-US" sz="2562" spc="128">
                <a:solidFill>
                  <a:srgbClr val="FFFBFB"/>
                </a:solidFill>
                <a:latin typeface="Open Sauce"/>
                <a:ea typeface="Open Sauce"/>
                <a:cs typeface="Open Sauce"/>
                <a:sym typeface="Open Sauce"/>
              </a:rPr>
              <a:t>Pedro</a:t>
            </a:r>
          </a:p>
        </p:txBody>
      </p:sp>
      <p:sp>
        <p:nvSpPr>
          <p:cNvPr id="30" name="TextBox 30"/>
          <p:cNvSpPr txBox="1"/>
          <p:nvPr/>
        </p:nvSpPr>
        <p:spPr>
          <a:xfrm>
            <a:off x="4175443" y="6956631"/>
            <a:ext cx="2516641" cy="819150"/>
          </a:xfrm>
          <a:prstGeom prst="rect">
            <a:avLst/>
          </a:prstGeom>
        </p:spPr>
        <p:txBody>
          <a:bodyPr lIns="0" tIns="0" rIns="0" bIns="0" rtlCol="0" anchor="t">
            <a:spAutoFit/>
          </a:bodyPr>
          <a:lstStyle/>
          <a:p>
            <a:pPr algn="ctr">
              <a:lnSpc>
                <a:spcPts val="3286"/>
              </a:lnSpc>
            </a:pPr>
            <a:r>
              <a:rPr lang="en-US" sz="2738" spc="136">
                <a:solidFill>
                  <a:srgbClr val="FFFBFB"/>
                </a:solidFill>
                <a:latin typeface="Open Sauce"/>
                <a:ea typeface="Open Sauce"/>
                <a:cs typeface="Open Sauce"/>
                <a:sym typeface="Open Sauce"/>
              </a:rPr>
              <a:t>Ian</a:t>
            </a:r>
          </a:p>
          <a:p>
            <a:pPr algn="ctr">
              <a:lnSpc>
                <a:spcPts val="3286"/>
              </a:lnSpc>
            </a:pPr>
            <a:r>
              <a:rPr lang="en-US" sz="2738" spc="136">
                <a:solidFill>
                  <a:srgbClr val="FFFBFB"/>
                </a:solidFill>
                <a:latin typeface="Open Sauce"/>
                <a:ea typeface="Open Sauce"/>
                <a:cs typeface="Open Sauce"/>
                <a:sym typeface="Open Sauce"/>
              </a:rPr>
              <a:t>Bett</a:t>
            </a:r>
          </a:p>
        </p:txBody>
      </p:sp>
      <p:sp>
        <p:nvSpPr>
          <p:cNvPr id="31" name="TextBox 31"/>
          <p:cNvSpPr txBox="1"/>
          <p:nvPr/>
        </p:nvSpPr>
        <p:spPr>
          <a:xfrm>
            <a:off x="7617178" y="7112258"/>
            <a:ext cx="2731184" cy="819150"/>
          </a:xfrm>
          <a:prstGeom prst="rect">
            <a:avLst/>
          </a:prstGeom>
        </p:spPr>
        <p:txBody>
          <a:bodyPr lIns="0" tIns="0" rIns="0" bIns="0" rtlCol="0" anchor="t">
            <a:spAutoFit/>
          </a:bodyPr>
          <a:lstStyle/>
          <a:p>
            <a:pPr algn="ctr">
              <a:lnSpc>
                <a:spcPts val="3286"/>
              </a:lnSpc>
            </a:pPr>
            <a:r>
              <a:rPr lang="en-US" sz="2738" spc="136">
                <a:solidFill>
                  <a:srgbClr val="FFFBFB"/>
                </a:solidFill>
                <a:latin typeface="Open Sauce"/>
                <a:ea typeface="Open Sauce"/>
                <a:cs typeface="Open Sauce"/>
                <a:sym typeface="Open Sauce"/>
              </a:rPr>
              <a:t>Frankline</a:t>
            </a:r>
          </a:p>
          <a:p>
            <a:pPr algn="ctr">
              <a:lnSpc>
                <a:spcPts val="3286"/>
              </a:lnSpc>
            </a:pPr>
            <a:r>
              <a:rPr lang="en-US" sz="2738" spc="136">
                <a:solidFill>
                  <a:srgbClr val="FFFBFB"/>
                </a:solidFill>
                <a:latin typeface="Open Sauce"/>
                <a:ea typeface="Open Sauce"/>
                <a:cs typeface="Open Sauce"/>
                <a:sym typeface="Open Sauce"/>
              </a:rPr>
              <a:t>Kipchumba</a:t>
            </a:r>
          </a:p>
        </p:txBody>
      </p:sp>
      <p:sp>
        <p:nvSpPr>
          <p:cNvPr id="32" name="TextBox 32"/>
          <p:cNvSpPr txBox="1"/>
          <p:nvPr/>
        </p:nvSpPr>
        <p:spPr>
          <a:xfrm>
            <a:off x="11386950" y="6956631"/>
            <a:ext cx="2731184" cy="819150"/>
          </a:xfrm>
          <a:prstGeom prst="rect">
            <a:avLst/>
          </a:prstGeom>
        </p:spPr>
        <p:txBody>
          <a:bodyPr lIns="0" tIns="0" rIns="0" bIns="0" rtlCol="0" anchor="t">
            <a:spAutoFit/>
          </a:bodyPr>
          <a:lstStyle/>
          <a:p>
            <a:pPr algn="ctr">
              <a:lnSpc>
                <a:spcPts val="3286"/>
              </a:lnSpc>
            </a:pPr>
            <a:r>
              <a:rPr lang="en-US" sz="2738" spc="136">
                <a:solidFill>
                  <a:srgbClr val="FFFBFB"/>
                </a:solidFill>
                <a:latin typeface="Open Sauce"/>
                <a:ea typeface="Open Sauce"/>
                <a:cs typeface="Open Sauce"/>
                <a:sym typeface="Open Sauce"/>
              </a:rPr>
              <a:t>Sharon </a:t>
            </a:r>
          </a:p>
          <a:p>
            <a:pPr algn="ctr">
              <a:lnSpc>
                <a:spcPts val="3286"/>
              </a:lnSpc>
            </a:pPr>
            <a:r>
              <a:rPr lang="en-US" sz="2738" spc="136">
                <a:solidFill>
                  <a:srgbClr val="FFFBFB"/>
                </a:solidFill>
                <a:latin typeface="Open Sauce"/>
                <a:ea typeface="Open Sauce"/>
                <a:cs typeface="Open Sauce"/>
                <a:sym typeface="Open Sauce"/>
              </a:rPr>
              <a:t>Paul</a:t>
            </a:r>
          </a:p>
        </p:txBody>
      </p:sp>
      <p:sp>
        <p:nvSpPr>
          <p:cNvPr id="33" name="TextBox 33"/>
          <p:cNvSpPr txBox="1"/>
          <p:nvPr/>
        </p:nvSpPr>
        <p:spPr>
          <a:xfrm>
            <a:off x="15045916" y="6769553"/>
            <a:ext cx="2454839" cy="756853"/>
          </a:xfrm>
          <a:prstGeom prst="rect">
            <a:avLst/>
          </a:prstGeom>
        </p:spPr>
        <p:txBody>
          <a:bodyPr lIns="0" tIns="0" rIns="0" bIns="0" rtlCol="0" anchor="t">
            <a:spAutoFit/>
          </a:bodyPr>
          <a:lstStyle/>
          <a:p>
            <a:pPr algn="ctr">
              <a:lnSpc>
                <a:spcPts val="3074"/>
              </a:lnSpc>
            </a:pPr>
            <a:r>
              <a:rPr lang="en-US" sz="2562" spc="128">
                <a:solidFill>
                  <a:srgbClr val="FFFBFB"/>
                </a:solidFill>
                <a:latin typeface="Open Sauce"/>
                <a:ea typeface="Open Sauce"/>
                <a:cs typeface="Open Sauce"/>
                <a:sym typeface="Open Sauce"/>
              </a:rPr>
              <a:t>Wambui </a:t>
            </a:r>
          </a:p>
          <a:p>
            <a:pPr algn="ctr">
              <a:lnSpc>
                <a:spcPts val="3074"/>
              </a:lnSpc>
            </a:pPr>
            <a:r>
              <a:rPr lang="en-US" sz="2562" spc="128">
                <a:solidFill>
                  <a:srgbClr val="FFFBFB"/>
                </a:solidFill>
                <a:latin typeface="Open Sauce"/>
                <a:ea typeface="Open Sauce"/>
                <a:cs typeface="Open Sauce"/>
                <a:sym typeface="Open Sauce"/>
              </a:rPr>
              <a:t>Kamotho</a:t>
            </a:r>
          </a:p>
        </p:txBody>
      </p:sp>
      <p:sp>
        <p:nvSpPr>
          <p:cNvPr id="34" name="TextBox 34"/>
          <p:cNvSpPr txBox="1"/>
          <p:nvPr/>
        </p:nvSpPr>
        <p:spPr>
          <a:xfrm>
            <a:off x="5080502" y="1736323"/>
            <a:ext cx="7845600" cy="834203"/>
          </a:xfrm>
          <a:prstGeom prst="rect">
            <a:avLst/>
          </a:prstGeom>
        </p:spPr>
        <p:txBody>
          <a:bodyPr lIns="0" tIns="0" rIns="0" bIns="0" rtlCol="0" anchor="t">
            <a:spAutoFit/>
          </a:bodyPr>
          <a:lstStyle/>
          <a:p>
            <a:pPr marL="0" lvl="0" indent="0" algn="ctr">
              <a:lnSpc>
                <a:spcPts val="5862"/>
              </a:lnSpc>
              <a:spcBef>
                <a:spcPct val="0"/>
              </a:spcBef>
            </a:pPr>
            <a:r>
              <a:rPr lang="en-US" sz="5921" spc="207">
                <a:solidFill>
                  <a:srgbClr val="FFFFFF"/>
                </a:solidFill>
                <a:latin typeface="Poppins"/>
                <a:ea typeface="Poppins"/>
                <a:cs typeface="Poppins"/>
                <a:sym typeface="Poppins"/>
              </a:rPr>
              <a:t>Our Team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rot="-10800000">
            <a:off x="2778327" y="7417124"/>
            <a:ext cx="12710840" cy="1184047"/>
          </a:xfrm>
          <a:custGeom>
            <a:avLst/>
            <a:gdLst/>
            <a:ahLst/>
            <a:cxnLst/>
            <a:rect l="l" t="t" r="r" b="b"/>
            <a:pathLst>
              <a:path w="12710840" h="1184047">
                <a:moveTo>
                  <a:pt x="0" y="0"/>
                </a:moveTo>
                <a:lnTo>
                  <a:pt x="12710840" y="0"/>
                </a:lnTo>
                <a:lnTo>
                  <a:pt x="12710840" y="1184046"/>
                </a:lnTo>
                <a:lnTo>
                  <a:pt x="0" y="1184046"/>
                </a:lnTo>
                <a:lnTo>
                  <a:pt x="0" y="0"/>
                </a:lnTo>
                <a:close/>
              </a:path>
            </a:pathLst>
          </a:custGeom>
          <a:blipFill>
            <a:blip r:embed="rId2">
              <a:alphaModFix amt="72000"/>
            </a:blip>
            <a:stretch>
              <a:fillRect b="-208633"/>
            </a:stretch>
          </a:blipFill>
        </p:spPr>
      </p:sp>
      <p:grpSp>
        <p:nvGrpSpPr>
          <p:cNvPr id="3" name="Group 3"/>
          <p:cNvGrpSpPr/>
          <p:nvPr/>
        </p:nvGrpSpPr>
        <p:grpSpPr>
          <a:xfrm>
            <a:off x="0" y="0"/>
            <a:ext cx="18288000" cy="4491629"/>
            <a:chOff x="0" y="0"/>
            <a:chExt cx="4816593" cy="1182980"/>
          </a:xfrm>
        </p:grpSpPr>
        <p:sp>
          <p:nvSpPr>
            <p:cNvPr id="4" name="Freeform 4"/>
            <p:cNvSpPr/>
            <p:nvPr/>
          </p:nvSpPr>
          <p:spPr>
            <a:xfrm>
              <a:off x="0" y="0"/>
              <a:ext cx="4816592" cy="1182980"/>
            </a:xfrm>
            <a:custGeom>
              <a:avLst/>
              <a:gdLst/>
              <a:ahLst/>
              <a:cxnLst/>
              <a:rect l="l" t="t" r="r" b="b"/>
              <a:pathLst>
                <a:path w="4816592" h="1182980">
                  <a:moveTo>
                    <a:pt x="0" y="0"/>
                  </a:moveTo>
                  <a:lnTo>
                    <a:pt x="4816592" y="0"/>
                  </a:lnTo>
                  <a:lnTo>
                    <a:pt x="4816592" y="1182980"/>
                  </a:lnTo>
                  <a:lnTo>
                    <a:pt x="0" y="1182980"/>
                  </a:lnTo>
                  <a:close/>
                </a:path>
              </a:pathLst>
            </a:custGeom>
            <a:solidFill>
              <a:srgbClr val="106861"/>
            </a:solidFill>
            <a:ln cap="sq">
              <a:noFill/>
              <a:prstDash val="solid"/>
              <a:miter/>
            </a:ln>
          </p:spPr>
        </p:sp>
        <p:sp>
          <p:nvSpPr>
            <p:cNvPr id="5" name="TextBox 5"/>
            <p:cNvSpPr txBox="1"/>
            <p:nvPr/>
          </p:nvSpPr>
          <p:spPr>
            <a:xfrm>
              <a:off x="0" y="-19050"/>
              <a:ext cx="4816593" cy="120203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6" name="Freeform 6"/>
          <p:cNvSpPr/>
          <p:nvPr/>
        </p:nvSpPr>
        <p:spPr>
          <a:xfrm>
            <a:off x="0" y="0"/>
            <a:ext cx="18288000" cy="4491629"/>
          </a:xfrm>
          <a:custGeom>
            <a:avLst/>
            <a:gdLst/>
            <a:ahLst/>
            <a:cxnLst/>
            <a:rect l="l" t="t" r="r" b="b"/>
            <a:pathLst>
              <a:path w="18288000" h="4491629">
                <a:moveTo>
                  <a:pt x="0" y="0"/>
                </a:moveTo>
                <a:lnTo>
                  <a:pt x="18288000" y="0"/>
                </a:lnTo>
                <a:lnTo>
                  <a:pt x="18288000" y="4491629"/>
                </a:lnTo>
                <a:lnTo>
                  <a:pt x="0" y="4491629"/>
                </a:lnTo>
                <a:lnTo>
                  <a:pt x="0" y="0"/>
                </a:lnTo>
                <a:close/>
              </a:path>
            </a:pathLst>
          </a:custGeom>
          <a:blipFill>
            <a:blip r:embed="rId3">
              <a:alphaModFix amt="59000"/>
            </a:blip>
            <a:stretch>
              <a:fillRect t="-85634" b="-85634"/>
            </a:stretch>
          </a:blipFill>
          <a:ln cap="sq">
            <a:noFill/>
            <a:prstDash val="solid"/>
            <a:miter/>
          </a:ln>
        </p:spPr>
      </p:sp>
      <p:sp>
        <p:nvSpPr>
          <p:cNvPr id="7" name="Freeform 7"/>
          <p:cNvSpPr/>
          <p:nvPr/>
        </p:nvSpPr>
        <p:spPr>
          <a:xfrm>
            <a:off x="-222208" y="-235"/>
            <a:ext cx="18510208" cy="4491864"/>
          </a:xfrm>
          <a:custGeom>
            <a:avLst/>
            <a:gdLst/>
            <a:ahLst/>
            <a:cxnLst/>
            <a:rect l="l" t="t" r="r" b="b"/>
            <a:pathLst>
              <a:path w="18510208" h="4491864">
                <a:moveTo>
                  <a:pt x="0" y="0"/>
                </a:moveTo>
                <a:lnTo>
                  <a:pt x="18510208" y="0"/>
                </a:lnTo>
                <a:lnTo>
                  <a:pt x="18510208" y="4491864"/>
                </a:lnTo>
                <a:lnTo>
                  <a:pt x="0" y="4491864"/>
                </a:lnTo>
                <a:lnTo>
                  <a:pt x="0" y="0"/>
                </a:lnTo>
                <a:close/>
              </a:path>
            </a:pathLst>
          </a:custGeom>
          <a:blipFill>
            <a:blip r:embed="rId4"/>
            <a:stretch>
              <a:fillRect t="-72431" b="-102119"/>
            </a:stretch>
          </a:blipFill>
        </p:spPr>
      </p:sp>
      <p:grpSp>
        <p:nvGrpSpPr>
          <p:cNvPr id="8" name="Group 8"/>
          <p:cNvGrpSpPr/>
          <p:nvPr/>
        </p:nvGrpSpPr>
        <p:grpSpPr>
          <a:xfrm>
            <a:off x="2778327" y="2245814"/>
            <a:ext cx="12731346" cy="5171309"/>
            <a:chOff x="0" y="0"/>
            <a:chExt cx="3353112" cy="1361991"/>
          </a:xfrm>
        </p:grpSpPr>
        <p:sp>
          <p:nvSpPr>
            <p:cNvPr id="9" name="Freeform 9"/>
            <p:cNvSpPr/>
            <p:nvPr/>
          </p:nvSpPr>
          <p:spPr>
            <a:xfrm>
              <a:off x="0" y="0"/>
              <a:ext cx="3353112" cy="1361991"/>
            </a:xfrm>
            <a:custGeom>
              <a:avLst/>
              <a:gdLst/>
              <a:ahLst/>
              <a:cxnLst/>
              <a:rect l="l" t="t" r="r" b="b"/>
              <a:pathLst>
                <a:path w="3353112" h="1361991">
                  <a:moveTo>
                    <a:pt x="15202" y="0"/>
                  </a:moveTo>
                  <a:lnTo>
                    <a:pt x="3337909" y="0"/>
                  </a:lnTo>
                  <a:cubicBezTo>
                    <a:pt x="3341941" y="0"/>
                    <a:pt x="3345808" y="1602"/>
                    <a:pt x="3348659" y="4453"/>
                  </a:cubicBezTo>
                  <a:cubicBezTo>
                    <a:pt x="3351510" y="7304"/>
                    <a:pt x="3353112" y="11171"/>
                    <a:pt x="3353112" y="15202"/>
                  </a:cubicBezTo>
                  <a:lnTo>
                    <a:pt x="3353112" y="1346788"/>
                  </a:lnTo>
                  <a:cubicBezTo>
                    <a:pt x="3353112" y="1350820"/>
                    <a:pt x="3351510" y="1354687"/>
                    <a:pt x="3348659" y="1357538"/>
                  </a:cubicBezTo>
                  <a:cubicBezTo>
                    <a:pt x="3345808" y="1360389"/>
                    <a:pt x="3341941" y="1361991"/>
                    <a:pt x="3337909" y="1361991"/>
                  </a:cubicBezTo>
                  <a:lnTo>
                    <a:pt x="15202" y="1361991"/>
                  </a:lnTo>
                  <a:cubicBezTo>
                    <a:pt x="11171" y="1361991"/>
                    <a:pt x="7304" y="1360389"/>
                    <a:pt x="4453" y="1357538"/>
                  </a:cubicBezTo>
                  <a:cubicBezTo>
                    <a:pt x="1602" y="1354687"/>
                    <a:pt x="0" y="1350820"/>
                    <a:pt x="0" y="1346788"/>
                  </a:cubicBezTo>
                  <a:lnTo>
                    <a:pt x="0" y="15202"/>
                  </a:lnTo>
                  <a:cubicBezTo>
                    <a:pt x="0" y="11171"/>
                    <a:pt x="1602" y="7304"/>
                    <a:pt x="4453" y="4453"/>
                  </a:cubicBezTo>
                  <a:cubicBezTo>
                    <a:pt x="7304" y="1602"/>
                    <a:pt x="11171" y="0"/>
                    <a:pt x="15202" y="0"/>
                  </a:cubicBezTo>
                  <a:close/>
                </a:path>
              </a:pathLst>
            </a:custGeom>
            <a:solidFill>
              <a:srgbClr val="1C5739"/>
            </a:solidFill>
            <a:ln cap="rnd">
              <a:noFill/>
              <a:prstDash val="solid"/>
              <a:round/>
            </a:ln>
          </p:spPr>
        </p:sp>
        <p:sp>
          <p:nvSpPr>
            <p:cNvPr id="10" name="TextBox 10"/>
            <p:cNvSpPr txBox="1"/>
            <p:nvPr/>
          </p:nvSpPr>
          <p:spPr>
            <a:xfrm>
              <a:off x="0" y="-19050"/>
              <a:ext cx="3353112" cy="1381041"/>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1" name="Group 11"/>
          <p:cNvGrpSpPr/>
          <p:nvPr/>
        </p:nvGrpSpPr>
        <p:grpSpPr>
          <a:xfrm>
            <a:off x="16113923" y="9258300"/>
            <a:ext cx="327444" cy="32744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13" name="TextBox 13"/>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4" name="Group 14"/>
          <p:cNvGrpSpPr/>
          <p:nvPr/>
        </p:nvGrpSpPr>
        <p:grpSpPr>
          <a:xfrm>
            <a:off x="15648108" y="9258300"/>
            <a:ext cx="327444" cy="32744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16" name="TextBox 16"/>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7" name="Group 17"/>
          <p:cNvGrpSpPr/>
          <p:nvPr/>
        </p:nvGrpSpPr>
        <p:grpSpPr>
          <a:xfrm>
            <a:off x="15161723" y="9258300"/>
            <a:ext cx="327444" cy="32744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19" name="TextBox 19"/>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20" name="TextBox 20"/>
          <p:cNvSpPr txBox="1"/>
          <p:nvPr/>
        </p:nvSpPr>
        <p:spPr>
          <a:xfrm>
            <a:off x="3558350" y="4197614"/>
            <a:ext cx="11150794" cy="2476202"/>
          </a:xfrm>
          <a:prstGeom prst="rect">
            <a:avLst/>
          </a:prstGeom>
        </p:spPr>
        <p:txBody>
          <a:bodyPr lIns="0" tIns="0" rIns="0" bIns="0" rtlCol="0" anchor="t">
            <a:spAutoFit/>
          </a:bodyPr>
          <a:lstStyle/>
          <a:p>
            <a:pPr algn="ctr">
              <a:lnSpc>
                <a:spcPts val="3950"/>
              </a:lnSpc>
            </a:pPr>
            <a:r>
              <a:rPr lang="en-US" sz="2469">
                <a:solidFill>
                  <a:srgbClr val="FFFFFF"/>
                </a:solidFill>
                <a:latin typeface="Open Sauce"/>
                <a:ea typeface="Open Sauce"/>
                <a:cs typeface="Open Sauce"/>
                <a:sym typeface="Open Sauce"/>
              </a:rPr>
              <a:t>Conservationists now use camera traps to monitor wildlife with minimal disruption, but these devices generate more images than humans can feasibly review. Our goal is to build an AI model that automatically identifies animals in these images, helping conservationists make faster, data-driven decisions</a:t>
            </a:r>
          </a:p>
        </p:txBody>
      </p:sp>
      <p:sp>
        <p:nvSpPr>
          <p:cNvPr id="21" name="TextBox 21"/>
          <p:cNvSpPr txBox="1"/>
          <p:nvPr/>
        </p:nvSpPr>
        <p:spPr>
          <a:xfrm>
            <a:off x="5679731" y="2788642"/>
            <a:ext cx="6928538" cy="1158738"/>
          </a:xfrm>
          <a:prstGeom prst="rect">
            <a:avLst/>
          </a:prstGeom>
        </p:spPr>
        <p:txBody>
          <a:bodyPr lIns="0" tIns="0" rIns="0" bIns="0" rtlCol="0" anchor="t">
            <a:spAutoFit/>
          </a:bodyPr>
          <a:lstStyle/>
          <a:p>
            <a:pPr marL="0" lvl="0" indent="0" algn="ctr">
              <a:lnSpc>
                <a:spcPts val="9582"/>
              </a:lnSpc>
              <a:spcBef>
                <a:spcPct val="0"/>
              </a:spcBef>
            </a:pPr>
            <a:r>
              <a:rPr lang="en-US" sz="6844" b="1" spc="-136">
                <a:solidFill>
                  <a:srgbClr val="FDFBFB"/>
                </a:solidFill>
                <a:latin typeface="Open Sauce Bold"/>
                <a:ea typeface="Open Sauce Bold"/>
                <a:cs typeface="Open Sauce Bold"/>
                <a:sym typeface="Open Sauce Bold"/>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a:off x="14592460" y="2868946"/>
            <a:ext cx="3695540" cy="7418054"/>
          </a:xfrm>
          <a:custGeom>
            <a:avLst/>
            <a:gdLst/>
            <a:ahLst/>
            <a:cxnLst/>
            <a:rect l="l" t="t" r="r" b="b"/>
            <a:pathLst>
              <a:path w="3695540" h="7418054">
                <a:moveTo>
                  <a:pt x="0" y="0"/>
                </a:moveTo>
                <a:lnTo>
                  <a:pt x="3695540" y="0"/>
                </a:lnTo>
                <a:lnTo>
                  <a:pt x="3695540" y="7418054"/>
                </a:lnTo>
                <a:lnTo>
                  <a:pt x="0" y="741805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2095642" y="2054763"/>
            <a:ext cx="7362789" cy="866067"/>
          </a:xfrm>
          <a:prstGeom prst="rect">
            <a:avLst/>
          </a:prstGeom>
        </p:spPr>
        <p:txBody>
          <a:bodyPr lIns="0" tIns="0" rIns="0" bIns="0" rtlCol="0" anchor="t">
            <a:spAutoFit/>
          </a:bodyPr>
          <a:lstStyle/>
          <a:p>
            <a:pPr algn="l">
              <a:lnSpc>
                <a:spcPts val="7178"/>
              </a:lnSpc>
            </a:pPr>
            <a:r>
              <a:rPr lang="en-US" sz="5127" b="1" spc="-102">
                <a:solidFill>
                  <a:srgbClr val="191919"/>
                </a:solidFill>
                <a:latin typeface="Open Sauce Bold"/>
                <a:ea typeface="Open Sauce Bold"/>
                <a:cs typeface="Open Sauce Bold"/>
                <a:sym typeface="Open Sauce Bold"/>
              </a:rPr>
              <a:t>Objectives</a:t>
            </a:r>
          </a:p>
        </p:txBody>
      </p:sp>
      <p:sp>
        <p:nvSpPr>
          <p:cNvPr id="4" name="Freeform 4"/>
          <p:cNvSpPr/>
          <p:nvPr/>
        </p:nvSpPr>
        <p:spPr>
          <a:xfrm rot="-10800000">
            <a:off x="-465877" y="-4635036"/>
            <a:ext cx="3695540" cy="7418054"/>
          </a:xfrm>
          <a:custGeom>
            <a:avLst/>
            <a:gdLst/>
            <a:ahLst/>
            <a:cxnLst/>
            <a:rect l="l" t="t" r="r" b="b"/>
            <a:pathLst>
              <a:path w="3695540" h="7418054">
                <a:moveTo>
                  <a:pt x="0" y="0"/>
                </a:moveTo>
                <a:lnTo>
                  <a:pt x="3695540" y="0"/>
                </a:lnTo>
                <a:lnTo>
                  <a:pt x="3695540" y="7418054"/>
                </a:lnTo>
                <a:lnTo>
                  <a:pt x="0" y="741805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5" name="Group 5"/>
          <p:cNvGrpSpPr/>
          <p:nvPr/>
        </p:nvGrpSpPr>
        <p:grpSpPr>
          <a:xfrm>
            <a:off x="457852" y="4032757"/>
            <a:ext cx="4074156" cy="4959003"/>
            <a:chOff x="0" y="0"/>
            <a:chExt cx="5432208" cy="6612004"/>
          </a:xfrm>
        </p:grpSpPr>
        <p:grpSp>
          <p:nvGrpSpPr>
            <p:cNvPr id="6" name="Group 6"/>
            <p:cNvGrpSpPr/>
            <p:nvPr/>
          </p:nvGrpSpPr>
          <p:grpSpPr>
            <a:xfrm rot="-10800000">
              <a:off x="0" y="0"/>
              <a:ext cx="5432208" cy="6612004"/>
              <a:chOff x="0" y="0"/>
              <a:chExt cx="2011642" cy="2448541"/>
            </a:xfrm>
          </p:grpSpPr>
          <p:sp>
            <p:nvSpPr>
              <p:cNvPr id="7" name="Freeform 7"/>
              <p:cNvSpPr/>
              <p:nvPr/>
            </p:nvSpPr>
            <p:spPr>
              <a:xfrm>
                <a:off x="0" y="0"/>
                <a:ext cx="2011642" cy="2448541"/>
              </a:xfrm>
              <a:custGeom>
                <a:avLst/>
                <a:gdLst/>
                <a:ahLst/>
                <a:cxnLst/>
                <a:rect l="l" t="t" r="r" b="b"/>
                <a:pathLst>
                  <a:path w="2011642" h="2448541">
                    <a:moveTo>
                      <a:pt x="60808" y="0"/>
                    </a:moveTo>
                    <a:lnTo>
                      <a:pt x="1950834" y="0"/>
                    </a:lnTo>
                    <a:cubicBezTo>
                      <a:pt x="1984417" y="0"/>
                      <a:pt x="2011642" y="27225"/>
                      <a:pt x="2011642" y="60808"/>
                    </a:cubicBezTo>
                    <a:lnTo>
                      <a:pt x="2011642" y="2387733"/>
                    </a:lnTo>
                    <a:cubicBezTo>
                      <a:pt x="2011642" y="2421316"/>
                      <a:pt x="1984417" y="2448541"/>
                      <a:pt x="1950834" y="2448541"/>
                    </a:cubicBezTo>
                    <a:lnTo>
                      <a:pt x="60808" y="2448541"/>
                    </a:lnTo>
                    <a:cubicBezTo>
                      <a:pt x="27225" y="2448541"/>
                      <a:pt x="0" y="2421316"/>
                      <a:pt x="0" y="2387733"/>
                    </a:cubicBezTo>
                    <a:lnTo>
                      <a:pt x="0" y="60808"/>
                    </a:lnTo>
                    <a:cubicBezTo>
                      <a:pt x="0" y="27225"/>
                      <a:pt x="27225" y="0"/>
                      <a:pt x="60808" y="0"/>
                    </a:cubicBezTo>
                    <a:close/>
                  </a:path>
                </a:pathLst>
              </a:custGeom>
              <a:solidFill>
                <a:srgbClr val="FFFFFF"/>
              </a:solidFill>
              <a:ln w="123825" cap="rnd">
                <a:solidFill>
                  <a:srgbClr val="106861"/>
                </a:solidFill>
                <a:prstDash val="solid"/>
                <a:round/>
              </a:ln>
            </p:spPr>
          </p:sp>
          <p:sp>
            <p:nvSpPr>
              <p:cNvPr id="8" name="TextBox 8"/>
              <p:cNvSpPr txBox="1"/>
              <p:nvPr/>
            </p:nvSpPr>
            <p:spPr>
              <a:xfrm>
                <a:off x="0" y="-38100"/>
                <a:ext cx="2011642" cy="2486641"/>
              </a:xfrm>
              <a:prstGeom prst="rect">
                <a:avLst/>
              </a:prstGeom>
            </p:spPr>
            <p:txBody>
              <a:bodyPr lIns="67143" tIns="67143" rIns="67143" bIns="67143" rtlCol="0" anchor="ctr"/>
              <a:lstStyle/>
              <a:p>
                <a:pPr marL="0" lvl="0" indent="0" algn="ctr">
                  <a:lnSpc>
                    <a:spcPts val="2756"/>
                  </a:lnSpc>
                  <a:spcBef>
                    <a:spcPct val="0"/>
                  </a:spcBef>
                </a:pPr>
                <a:endParaRPr/>
              </a:p>
            </p:txBody>
          </p:sp>
        </p:grpSp>
        <p:sp>
          <p:nvSpPr>
            <p:cNvPr id="9" name="Freeform 9"/>
            <p:cNvSpPr/>
            <p:nvPr/>
          </p:nvSpPr>
          <p:spPr>
            <a:xfrm>
              <a:off x="784380" y="156315"/>
              <a:ext cx="3782534" cy="1763042"/>
            </a:xfrm>
            <a:custGeom>
              <a:avLst/>
              <a:gdLst/>
              <a:ahLst/>
              <a:cxnLst/>
              <a:rect l="l" t="t" r="r" b="b"/>
              <a:pathLst>
                <a:path w="3782534" h="1763042">
                  <a:moveTo>
                    <a:pt x="0" y="0"/>
                  </a:moveTo>
                  <a:lnTo>
                    <a:pt x="3782534" y="0"/>
                  </a:lnTo>
                  <a:lnTo>
                    <a:pt x="3782534" y="1763042"/>
                  </a:lnTo>
                  <a:lnTo>
                    <a:pt x="0" y="1763042"/>
                  </a:lnTo>
                  <a:lnTo>
                    <a:pt x="0" y="0"/>
                  </a:lnTo>
                  <a:close/>
                </a:path>
              </a:pathLst>
            </a:custGeom>
            <a:blipFill>
              <a:blip r:embed="rId4">
                <a:extLst>
                  <a:ext uri="{96DAC541-7B7A-43D3-8B79-37D633B846F1}">
                    <asvg:svgBlip xmlns:asvg="http://schemas.microsoft.com/office/drawing/2016/SVG/main" r:embed="rId5"/>
                  </a:ext>
                </a:extLst>
              </a:blip>
              <a:stretch>
                <a:fillRect t="-114545"/>
              </a:stretch>
            </a:blipFill>
            <a:ln cap="sq">
              <a:noFill/>
              <a:prstDash val="solid"/>
              <a:miter/>
            </a:ln>
          </p:spPr>
        </p:sp>
        <p:sp>
          <p:nvSpPr>
            <p:cNvPr id="10" name="TextBox 10"/>
            <p:cNvSpPr txBox="1"/>
            <p:nvPr/>
          </p:nvSpPr>
          <p:spPr>
            <a:xfrm>
              <a:off x="303277" y="3735852"/>
              <a:ext cx="4825653" cy="2479231"/>
            </a:xfrm>
            <a:prstGeom prst="rect">
              <a:avLst/>
            </a:prstGeom>
          </p:spPr>
          <p:txBody>
            <a:bodyPr lIns="0" tIns="0" rIns="0" bIns="0" rtlCol="0" anchor="t">
              <a:spAutoFit/>
            </a:bodyPr>
            <a:lstStyle/>
            <a:p>
              <a:pPr marL="0" lvl="0" indent="0" algn="ctr">
                <a:lnSpc>
                  <a:spcPts val="2547"/>
                </a:lnSpc>
              </a:pPr>
              <a:r>
                <a:rPr lang="en-US" sz="1698">
                  <a:solidFill>
                    <a:srgbClr val="343432"/>
                  </a:solidFill>
                  <a:latin typeface="Open Sauce"/>
                  <a:ea typeface="Open Sauce"/>
                  <a:cs typeface="Open Sauce"/>
                  <a:sym typeface="Open Sauce"/>
                </a:rPr>
                <a:t>To create a model that will classify images of wildlife by their species, enabling conservationists to understand animals’ behavior patterns, movement, and population trends.</a:t>
              </a:r>
            </a:p>
          </p:txBody>
        </p:sp>
        <p:sp>
          <p:nvSpPr>
            <p:cNvPr id="11" name="TextBox 11"/>
            <p:cNvSpPr txBox="1"/>
            <p:nvPr/>
          </p:nvSpPr>
          <p:spPr>
            <a:xfrm>
              <a:off x="1810137" y="278862"/>
              <a:ext cx="1652112" cy="1054690"/>
            </a:xfrm>
            <a:prstGeom prst="rect">
              <a:avLst/>
            </a:prstGeom>
          </p:spPr>
          <p:txBody>
            <a:bodyPr lIns="0" tIns="0" rIns="0" bIns="0" rtlCol="0" anchor="t">
              <a:spAutoFit/>
            </a:bodyPr>
            <a:lstStyle/>
            <a:p>
              <a:pPr marL="0" lvl="0" indent="0" algn="ctr">
                <a:lnSpc>
                  <a:spcPts val="6470"/>
                </a:lnSpc>
                <a:spcBef>
                  <a:spcPct val="0"/>
                </a:spcBef>
              </a:pPr>
              <a:r>
                <a:rPr lang="en-US" sz="5055" b="1">
                  <a:solidFill>
                    <a:srgbClr val="F8F8F8"/>
                  </a:solidFill>
                  <a:latin typeface="Open Sauce Bold"/>
                  <a:ea typeface="Open Sauce Bold"/>
                  <a:cs typeface="Open Sauce Bold"/>
                  <a:sym typeface="Open Sauce Bold"/>
                </a:rPr>
                <a:t>01</a:t>
              </a:r>
            </a:p>
          </p:txBody>
        </p:sp>
        <p:sp>
          <p:nvSpPr>
            <p:cNvPr id="12" name="Freeform 12"/>
            <p:cNvSpPr/>
            <p:nvPr/>
          </p:nvSpPr>
          <p:spPr>
            <a:xfrm>
              <a:off x="2075071" y="1930826"/>
              <a:ext cx="1122244" cy="1428783"/>
            </a:xfrm>
            <a:custGeom>
              <a:avLst/>
              <a:gdLst/>
              <a:ahLst/>
              <a:cxnLst/>
              <a:rect l="l" t="t" r="r" b="b"/>
              <a:pathLst>
                <a:path w="1122244" h="1428783">
                  <a:moveTo>
                    <a:pt x="0" y="0"/>
                  </a:moveTo>
                  <a:lnTo>
                    <a:pt x="1122243" y="0"/>
                  </a:lnTo>
                  <a:lnTo>
                    <a:pt x="1122243" y="1428783"/>
                  </a:lnTo>
                  <a:lnTo>
                    <a:pt x="0" y="1428783"/>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grpSp>
      <p:grpSp>
        <p:nvGrpSpPr>
          <p:cNvPr id="13" name="Group 13"/>
          <p:cNvGrpSpPr/>
          <p:nvPr/>
        </p:nvGrpSpPr>
        <p:grpSpPr>
          <a:xfrm>
            <a:off x="5248828" y="4728082"/>
            <a:ext cx="3128394" cy="3751948"/>
            <a:chOff x="0" y="0"/>
            <a:chExt cx="4171191" cy="5002598"/>
          </a:xfrm>
        </p:grpSpPr>
        <p:grpSp>
          <p:nvGrpSpPr>
            <p:cNvPr id="14" name="Group 14"/>
            <p:cNvGrpSpPr/>
            <p:nvPr/>
          </p:nvGrpSpPr>
          <p:grpSpPr>
            <a:xfrm rot="-10800000">
              <a:off x="0" y="0"/>
              <a:ext cx="4171191" cy="5002598"/>
              <a:chOff x="0" y="0"/>
              <a:chExt cx="2041606" cy="2448541"/>
            </a:xfrm>
          </p:grpSpPr>
          <p:sp>
            <p:nvSpPr>
              <p:cNvPr id="15" name="Freeform 15"/>
              <p:cNvSpPr/>
              <p:nvPr/>
            </p:nvSpPr>
            <p:spPr>
              <a:xfrm>
                <a:off x="0" y="0"/>
                <a:ext cx="2041606" cy="2448541"/>
              </a:xfrm>
              <a:custGeom>
                <a:avLst/>
                <a:gdLst/>
                <a:ahLst/>
                <a:cxnLst/>
                <a:rect l="l" t="t" r="r" b="b"/>
                <a:pathLst>
                  <a:path w="2041606" h="2448541">
                    <a:moveTo>
                      <a:pt x="35997" y="0"/>
                    </a:moveTo>
                    <a:lnTo>
                      <a:pt x="2005609" y="0"/>
                    </a:lnTo>
                    <a:cubicBezTo>
                      <a:pt x="2025490" y="0"/>
                      <a:pt x="2041606" y="16116"/>
                      <a:pt x="2041606" y="35997"/>
                    </a:cubicBezTo>
                    <a:lnTo>
                      <a:pt x="2041606" y="2412544"/>
                    </a:lnTo>
                    <a:cubicBezTo>
                      <a:pt x="2041606" y="2432425"/>
                      <a:pt x="2025490" y="2448541"/>
                      <a:pt x="2005609" y="2448541"/>
                    </a:cubicBezTo>
                    <a:lnTo>
                      <a:pt x="35997" y="2448541"/>
                    </a:lnTo>
                    <a:cubicBezTo>
                      <a:pt x="16116" y="2448541"/>
                      <a:pt x="0" y="2432425"/>
                      <a:pt x="0" y="2412544"/>
                    </a:cubicBezTo>
                    <a:lnTo>
                      <a:pt x="0" y="35997"/>
                    </a:lnTo>
                    <a:cubicBezTo>
                      <a:pt x="0" y="16116"/>
                      <a:pt x="16116" y="0"/>
                      <a:pt x="35997" y="0"/>
                    </a:cubicBezTo>
                    <a:close/>
                  </a:path>
                </a:pathLst>
              </a:custGeom>
              <a:solidFill>
                <a:srgbClr val="FFFFFF"/>
              </a:solidFill>
              <a:ln w="123825" cap="rnd">
                <a:solidFill>
                  <a:srgbClr val="106861"/>
                </a:solidFill>
                <a:prstDash val="solid"/>
                <a:round/>
              </a:ln>
            </p:spPr>
          </p:sp>
          <p:sp>
            <p:nvSpPr>
              <p:cNvPr id="16" name="TextBox 16"/>
              <p:cNvSpPr txBox="1"/>
              <p:nvPr/>
            </p:nvSpPr>
            <p:spPr>
              <a:xfrm>
                <a:off x="0" y="-38100"/>
                <a:ext cx="2041606" cy="2486641"/>
              </a:xfrm>
              <a:prstGeom prst="rect">
                <a:avLst/>
              </a:prstGeom>
            </p:spPr>
            <p:txBody>
              <a:bodyPr lIns="111756" tIns="111756" rIns="111756" bIns="111756" rtlCol="0" anchor="ctr"/>
              <a:lstStyle/>
              <a:p>
                <a:pPr marL="0" lvl="0" indent="0" algn="ctr">
                  <a:lnSpc>
                    <a:spcPts val="2756"/>
                  </a:lnSpc>
                  <a:spcBef>
                    <a:spcPct val="0"/>
                  </a:spcBef>
                </a:pPr>
                <a:endParaRPr/>
              </a:p>
            </p:txBody>
          </p:sp>
        </p:grpSp>
        <p:sp>
          <p:nvSpPr>
            <p:cNvPr id="17" name="Freeform 17"/>
            <p:cNvSpPr/>
            <p:nvPr/>
          </p:nvSpPr>
          <p:spPr>
            <a:xfrm>
              <a:off x="654676" y="0"/>
              <a:ext cx="2861840" cy="1333906"/>
            </a:xfrm>
            <a:custGeom>
              <a:avLst/>
              <a:gdLst/>
              <a:ahLst/>
              <a:cxnLst/>
              <a:rect l="l" t="t" r="r" b="b"/>
              <a:pathLst>
                <a:path w="2861840" h="1333906">
                  <a:moveTo>
                    <a:pt x="0" y="0"/>
                  </a:moveTo>
                  <a:lnTo>
                    <a:pt x="2861840" y="0"/>
                  </a:lnTo>
                  <a:lnTo>
                    <a:pt x="2861840" y="1333906"/>
                  </a:lnTo>
                  <a:lnTo>
                    <a:pt x="0" y="1333906"/>
                  </a:lnTo>
                  <a:lnTo>
                    <a:pt x="0" y="0"/>
                  </a:lnTo>
                  <a:close/>
                </a:path>
              </a:pathLst>
            </a:custGeom>
            <a:blipFill>
              <a:blip r:embed="rId4">
                <a:extLst>
                  <a:ext uri="{96DAC541-7B7A-43D3-8B79-37D633B846F1}">
                    <asvg:svgBlip xmlns:asvg="http://schemas.microsoft.com/office/drawing/2016/SVG/main" r:embed="rId5"/>
                  </a:ext>
                </a:extLst>
              </a:blip>
              <a:stretch>
                <a:fillRect t="-114545"/>
              </a:stretch>
            </a:blipFill>
            <a:ln cap="sq">
              <a:noFill/>
              <a:prstDash val="solid"/>
              <a:miter/>
            </a:ln>
          </p:spPr>
        </p:sp>
        <p:sp>
          <p:nvSpPr>
            <p:cNvPr id="18" name="Freeform 18"/>
            <p:cNvSpPr/>
            <p:nvPr/>
          </p:nvSpPr>
          <p:spPr>
            <a:xfrm>
              <a:off x="1430756" y="1333906"/>
              <a:ext cx="1227688" cy="1227688"/>
            </a:xfrm>
            <a:custGeom>
              <a:avLst/>
              <a:gdLst/>
              <a:ahLst/>
              <a:cxnLst/>
              <a:rect l="l" t="t" r="r" b="b"/>
              <a:pathLst>
                <a:path w="1227688" h="1227688">
                  <a:moveTo>
                    <a:pt x="0" y="0"/>
                  </a:moveTo>
                  <a:lnTo>
                    <a:pt x="1227688" y="0"/>
                  </a:lnTo>
                  <a:lnTo>
                    <a:pt x="1227688" y="1227688"/>
                  </a:lnTo>
                  <a:lnTo>
                    <a:pt x="0" y="1227688"/>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grpSp>
          <p:nvGrpSpPr>
            <p:cNvPr id="19" name="Group 19"/>
            <p:cNvGrpSpPr/>
            <p:nvPr/>
          </p:nvGrpSpPr>
          <p:grpSpPr>
            <a:xfrm>
              <a:off x="1694822" y="1530185"/>
              <a:ext cx="476694" cy="587742"/>
              <a:chOff x="0" y="0"/>
              <a:chExt cx="207149" cy="255406"/>
            </a:xfrm>
          </p:grpSpPr>
          <p:sp>
            <p:nvSpPr>
              <p:cNvPr id="20" name="Freeform 20"/>
              <p:cNvSpPr/>
              <p:nvPr/>
            </p:nvSpPr>
            <p:spPr>
              <a:xfrm>
                <a:off x="0" y="0"/>
                <a:ext cx="207149" cy="255406"/>
              </a:xfrm>
              <a:custGeom>
                <a:avLst/>
                <a:gdLst/>
                <a:ahLst/>
                <a:cxnLst/>
                <a:rect l="l" t="t" r="r" b="b"/>
                <a:pathLst>
                  <a:path w="207149" h="255406">
                    <a:moveTo>
                      <a:pt x="0" y="0"/>
                    </a:moveTo>
                    <a:lnTo>
                      <a:pt x="207149" y="0"/>
                    </a:lnTo>
                    <a:lnTo>
                      <a:pt x="207149" y="255406"/>
                    </a:lnTo>
                    <a:lnTo>
                      <a:pt x="0" y="255406"/>
                    </a:lnTo>
                    <a:close/>
                  </a:path>
                </a:pathLst>
              </a:custGeom>
              <a:solidFill>
                <a:srgbClr val="FFFFFF"/>
              </a:solidFill>
            </p:spPr>
          </p:sp>
          <p:sp>
            <p:nvSpPr>
              <p:cNvPr id="21" name="TextBox 21"/>
              <p:cNvSpPr txBox="1"/>
              <p:nvPr/>
            </p:nvSpPr>
            <p:spPr>
              <a:xfrm>
                <a:off x="0" y="-38100"/>
                <a:ext cx="207149" cy="293506"/>
              </a:xfrm>
              <a:prstGeom prst="rect">
                <a:avLst/>
              </a:prstGeom>
            </p:spPr>
            <p:txBody>
              <a:bodyPr lIns="50800" tIns="50800" rIns="50800" bIns="50800" rtlCol="0" anchor="ctr"/>
              <a:lstStyle/>
              <a:p>
                <a:pPr algn="ctr">
                  <a:lnSpc>
                    <a:spcPts val="2756"/>
                  </a:lnSpc>
                </a:pPr>
                <a:endParaRPr/>
              </a:p>
            </p:txBody>
          </p:sp>
        </p:grpSp>
        <p:sp>
          <p:nvSpPr>
            <p:cNvPr id="22" name="TextBox 22"/>
            <p:cNvSpPr txBox="1"/>
            <p:nvPr/>
          </p:nvSpPr>
          <p:spPr>
            <a:xfrm>
              <a:off x="200187" y="2625137"/>
              <a:ext cx="3770818" cy="2256573"/>
            </a:xfrm>
            <a:prstGeom prst="rect">
              <a:avLst/>
            </a:prstGeom>
          </p:spPr>
          <p:txBody>
            <a:bodyPr lIns="0" tIns="0" rIns="0" bIns="0" rtlCol="0" anchor="t">
              <a:spAutoFit/>
            </a:bodyPr>
            <a:lstStyle/>
            <a:p>
              <a:pPr algn="ctr">
                <a:lnSpc>
                  <a:spcPts val="1990"/>
                </a:lnSpc>
              </a:pPr>
              <a:r>
                <a:rPr lang="en-US" sz="1326">
                  <a:solidFill>
                    <a:srgbClr val="343432"/>
                  </a:solidFill>
                  <a:latin typeface="Open Sauce"/>
                  <a:ea typeface="Open Sauce"/>
                  <a:cs typeface="Open Sauce"/>
                  <a:sym typeface="Open Sauce"/>
                </a:rPr>
                <a:t>To get a fuller understanding of animal patterns and spot deviations quickly.. Biodiversity conservation by quickly identifying struggling species or invasive species.</a:t>
              </a:r>
            </a:p>
            <a:p>
              <a:pPr marL="0" lvl="0" indent="0" algn="ctr">
                <a:lnSpc>
                  <a:spcPts val="1990"/>
                </a:lnSpc>
              </a:pPr>
              <a:endParaRPr lang="en-US" sz="1326">
                <a:solidFill>
                  <a:srgbClr val="343432"/>
                </a:solidFill>
                <a:latin typeface="Open Sauce"/>
                <a:ea typeface="Open Sauce"/>
                <a:cs typeface="Open Sauce"/>
                <a:sym typeface="Open Sauce"/>
              </a:endParaRPr>
            </a:p>
          </p:txBody>
        </p:sp>
        <p:sp>
          <p:nvSpPr>
            <p:cNvPr id="23" name="TextBox 23"/>
            <p:cNvSpPr txBox="1"/>
            <p:nvPr/>
          </p:nvSpPr>
          <p:spPr>
            <a:xfrm>
              <a:off x="1430756" y="102495"/>
              <a:ext cx="1249977" cy="788195"/>
            </a:xfrm>
            <a:prstGeom prst="rect">
              <a:avLst/>
            </a:prstGeom>
          </p:spPr>
          <p:txBody>
            <a:bodyPr lIns="0" tIns="0" rIns="0" bIns="0" rtlCol="0" anchor="t">
              <a:spAutoFit/>
            </a:bodyPr>
            <a:lstStyle/>
            <a:p>
              <a:pPr marL="0" lvl="0" indent="0" algn="ctr">
                <a:lnSpc>
                  <a:spcPts val="4895"/>
                </a:lnSpc>
                <a:spcBef>
                  <a:spcPct val="0"/>
                </a:spcBef>
              </a:pPr>
              <a:r>
                <a:rPr lang="en-US" sz="3824" b="1">
                  <a:solidFill>
                    <a:srgbClr val="F8F8F8"/>
                  </a:solidFill>
                  <a:latin typeface="Open Sauce Bold"/>
                  <a:ea typeface="Open Sauce Bold"/>
                  <a:cs typeface="Open Sauce Bold"/>
                  <a:sym typeface="Open Sauce Bold"/>
                </a:rPr>
                <a:t>02</a:t>
              </a:r>
            </a:p>
          </p:txBody>
        </p:sp>
      </p:grpSp>
      <p:grpSp>
        <p:nvGrpSpPr>
          <p:cNvPr id="24" name="Group 24"/>
          <p:cNvGrpSpPr/>
          <p:nvPr/>
        </p:nvGrpSpPr>
        <p:grpSpPr>
          <a:xfrm>
            <a:off x="9094042" y="4701999"/>
            <a:ext cx="3128394" cy="3751948"/>
            <a:chOff x="0" y="0"/>
            <a:chExt cx="4171191" cy="5002598"/>
          </a:xfrm>
        </p:grpSpPr>
        <p:grpSp>
          <p:nvGrpSpPr>
            <p:cNvPr id="25" name="Group 25"/>
            <p:cNvGrpSpPr/>
            <p:nvPr/>
          </p:nvGrpSpPr>
          <p:grpSpPr>
            <a:xfrm rot="-10800000">
              <a:off x="0" y="0"/>
              <a:ext cx="4171191" cy="5002598"/>
              <a:chOff x="0" y="0"/>
              <a:chExt cx="2041606" cy="2448541"/>
            </a:xfrm>
          </p:grpSpPr>
          <p:sp>
            <p:nvSpPr>
              <p:cNvPr id="26" name="Freeform 26"/>
              <p:cNvSpPr/>
              <p:nvPr/>
            </p:nvSpPr>
            <p:spPr>
              <a:xfrm>
                <a:off x="0" y="0"/>
                <a:ext cx="2041606" cy="2448541"/>
              </a:xfrm>
              <a:custGeom>
                <a:avLst/>
                <a:gdLst/>
                <a:ahLst/>
                <a:cxnLst/>
                <a:rect l="l" t="t" r="r" b="b"/>
                <a:pathLst>
                  <a:path w="2041606" h="2448541">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FFFFFF"/>
              </a:solidFill>
              <a:ln w="123825" cap="rnd">
                <a:solidFill>
                  <a:srgbClr val="106861"/>
                </a:solidFill>
                <a:prstDash val="solid"/>
                <a:round/>
              </a:ln>
            </p:spPr>
          </p:sp>
          <p:sp>
            <p:nvSpPr>
              <p:cNvPr id="27" name="TextBox 27"/>
              <p:cNvSpPr txBox="1"/>
              <p:nvPr/>
            </p:nvSpPr>
            <p:spPr>
              <a:xfrm>
                <a:off x="0" y="-38100"/>
                <a:ext cx="2041606" cy="2486641"/>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28" name="Freeform 28"/>
            <p:cNvSpPr/>
            <p:nvPr/>
          </p:nvSpPr>
          <p:spPr>
            <a:xfrm>
              <a:off x="654676" y="0"/>
              <a:ext cx="2861840" cy="1333906"/>
            </a:xfrm>
            <a:custGeom>
              <a:avLst/>
              <a:gdLst/>
              <a:ahLst/>
              <a:cxnLst/>
              <a:rect l="l" t="t" r="r" b="b"/>
              <a:pathLst>
                <a:path w="2861840" h="1333906">
                  <a:moveTo>
                    <a:pt x="0" y="0"/>
                  </a:moveTo>
                  <a:lnTo>
                    <a:pt x="2861840" y="0"/>
                  </a:lnTo>
                  <a:lnTo>
                    <a:pt x="2861840" y="1333906"/>
                  </a:lnTo>
                  <a:lnTo>
                    <a:pt x="0" y="1333906"/>
                  </a:lnTo>
                  <a:lnTo>
                    <a:pt x="0" y="0"/>
                  </a:lnTo>
                  <a:close/>
                </a:path>
              </a:pathLst>
            </a:custGeom>
            <a:blipFill>
              <a:blip r:embed="rId4">
                <a:extLst>
                  <a:ext uri="{96DAC541-7B7A-43D3-8B79-37D633B846F1}">
                    <asvg:svgBlip xmlns:asvg="http://schemas.microsoft.com/office/drawing/2016/SVG/main" r:embed="rId5"/>
                  </a:ext>
                </a:extLst>
              </a:blip>
              <a:stretch>
                <a:fillRect t="-114545"/>
              </a:stretch>
            </a:blipFill>
            <a:ln cap="sq">
              <a:noFill/>
              <a:prstDash val="solid"/>
              <a:miter/>
            </a:ln>
          </p:spPr>
        </p:sp>
        <p:sp>
          <p:nvSpPr>
            <p:cNvPr id="29" name="Freeform 29"/>
            <p:cNvSpPr/>
            <p:nvPr/>
          </p:nvSpPr>
          <p:spPr>
            <a:xfrm>
              <a:off x="1684863" y="1665538"/>
              <a:ext cx="864203" cy="988174"/>
            </a:xfrm>
            <a:custGeom>
              <a:avLst/>
              <a:gdLst/>
              <a:ahLst/>
              <a:cxnLst/>
              <a:rect l="l" t="t" r="r" b="b"/>
              <a:pathLst>
                <a:path w="864203" h="988174">
                  <a:moveTo>
                    <a:pt x="0" y="0"/>
                  </a:moveTo>
                  <a:lnTo>
                    <a:pt x="864203" y="0"/>
                  </a:lnTo>
                  <a:lnTo>
                    <a:pt x="864203" y="988174"/>
                  </a:lnTo>
                  <a:lnTo>
                    <a:pt x="0" y="98817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0" name="TextBox 30"/>
            <p:cNvSpPr txBox="1"/>
            <p:nvPr/>
          </p:nvSpPr>
          <p:spPr>
            <a:xfrm>
              <a:off x="189288" y="3222020"/>
              <a:ext cx="3732913" cy="1451551"/>
            </a:xfrm>
            <a:prstGeom prst="rect">
              <a:avLst/>
            </a:prstGeom>
          </p:spPr>
          <p:txBody>
            <a:bodyPr lIns="0" tIns="0" rIns="0" bIns="0" rtlCol="0" anchor="t">
              <a:spAutoFit/>
            </a:bodyPr>
            <a:lstStyle/>
            <a:p>
              <a:pPr algn="ctr">
                <a:lnSpc>
                  <a:spcPts val="2245"/>
                </a:lnSpc>
              </a:pPr>
              <a:r>
                <a:rPr lang="en-US" sz="1497">
                  <a:solidFill>
                    <a:srgbClr val="343432"/>
                  </a:solidFill>
                  <a:latin typeface="Open Sauce"/>
                  <a:ea typeface="Open Sauce"/>
                  <a:cs typeface="Open Sauce"/>
                  <a:sym typeface="Open Sauce"/>
                </a:rPr>
                <a:t>To learn more about different animals and their interactions with each other.</a:t>
              </a:r>
            </a:p>
            <a:p>
              <a:pPr marL="0" lvl="0" indent="0" algn="ctr">
                <a:lnSpc>
                  <a:spcPts val="2245"/>
                </a:lnSpc>
              </a:pPr>
              <a:endParaRPr lang="en-US" sz="1497">
                <a:solidFill>
                  <a:srgbClr val="343432"/>
                </a:solidFill>
                <a:latin typeface="Open Sauce"/>
                <a:ea typeface="Open Sauce"/>
                <a:cs typeface="Open Sauce"/>
                <a:sym typeface="Open Sauce"/>
              </a:endParaRPr>
            </a:p>
          </p:txBody>
        </p:sp>
        <p:sp>
          <p:nvSpPr>
            <p:cNvPr id="31" name="TextBox 31"/>
            <p:cNvSpPr txBox="1"/>
            <p:nvPr/>
          </p:nvSpPr>
          <p:spPr>
            <a:xfrm>
              <a:off x="1430756" y="102495"/>
              <a:ext cx="1249977" cy="788195"/>
            </a:xfrm>
            <a:prstGeom prst="rect">
              <a:avLst/>
            </a:prstGeom>
          </p:spPr>
          <p:txBody>
            <a:bodyPr lIns="0" tIns="0" rIns="0" bIns="0" rtlCol="0" anchor="t">
              <a:spAutoFit/>
            </a:bodyPr>
            <a:lstStyle/>
            <a:p>
              <a:pPr marL="0" lvl="0" indent="0" algn="ctr">
                <a:lnSpc>
                  <a:spcPts val="4895"/>
                </a:lnSpc>
                <a:spcBef>
                  <a:spcPct val="0"/>
                </a:spcBef>
              </a:pPr>
              <a:r>
                <a:rPr lang="en-US" sz="3824" b="1">
                  <a:solidFill>
                    <a:srgbClr val="F8F8F8"/>
                  </a:solidFill>
                  <a:latin typeface="Open Sauce Bold"/>
                  <a:ea typeface="Open Sauce Bold"/>
                  <a:cs typeface="Open Sauce Bold"/>
                  <a:sym typeface="Open Sauce Bold"/>
                </a:rPr>
                <a:t>03</a:t>
              </a:r>
            </a:p>
          </p:txBody>
        </p:sp>
      </p:grpSp>
      <p:grpSp>
        <p:nvGrpSpPr>
          <p:cNvPr id="32" name="Group 32"/>
          <p:cNvGrpSpPr/>
          <p:nvPr/>
        </p:nvGrpSpPr>
        <p:grpSpPr>
          <a:xfrm>
            <a:off x="12936811" y="4728082"/>
            <a:ext cx="3128394" cy="3757348"/>
            <a:chOff x="0" y="0"/>
            <a:chExt cx="4171191" cy="5009798"/>
          </a:xfrm>
        </p:grpSpPr>
        <p:grpSp>
          <p:nvGrpSpPr>
            <p:cNvPr id="33" name="Group 33"/>
            <p:cNvGrpSpPr/>
            <p:nvPr/>
          </p:nvGrpSpPr>
          <p:grpSpPr>
            <a:xfrm rot="-10800000">
              <a:off x="0" y="0"/>
              <a:ext cx="4171191" cy="5002598"/>
              <a:chOff x="0" y="0"/>
              <a:chExt cx="2041606" cy="2448541"/>
            </a:xfrm>
          </p:grpSpPr>
          <p:sp>
            <p:nvSpPr>
              <p:cNvPr id="34" name="Freeform 34"/>
              <p:cNvSpPr/>
              <p:nvPr/>
            </p:nvSpPr>
            <p:spPr>
              <a:xfrm>
                <a:off x="0" y="0"/>
                <a:ext cx="2041606" cy="2448541"/>
              </a:xfrm>
              <a:custGeom>
                <a:avLst/>
                <a:gdLst/>
                <a:ahLst/>
                <a:cxnLst/>
                <a:rect l="l" t="t" r="r" b="b"/>
                <a:pathLst>
                  <a:path w="2041606" h="2448541">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FFFFFF"/>
              </a:solidFill>
              <a:ln w="123825" cap="rnd">
                <a:solidFill>
                  <a:srgbClr val="106861"/>
                </a:solidFill>
                <a:prstDash val="solid"/>
                <a:round/>
              </a:ln>
            </p:spPr>
          </p:sp>
          <p:sp>
            <p:nvSpPr>
              <p:cNvPr id="35" name="TextBox 35"/>
              <p:cNvSpPr txBox="1"/>
              <p:nvPr/>
            </p:nvSpPr>
            <p:spPr>
              <a:xfrm>
                <a:off x="0" y="-38100"/>
                <a:ext cx="2041606" cy="2486641"/>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36" name="Freeform 36"/>
            <p:cNvSpPr/>
            <p:nvPr/>
          </p:nvSpPr>
          <p:spPr>
            <a:xfrm>
              <a:off x="654676" y="0"/>
              <a:ext cx="2861840" cy="1333906"/>
            </a:xfrm>
            <a:custGeom>
              <a:avLst/>
              <a:gdLst/>
              <a:ahLst/>
              <a:cxnLst/>
              <a:rect l="l" t="t" r="r" b="b"/>
              <a:pathLst>
                <a:path w="2861840" h="1333906">
                  <a:moveTo>
                    <a:pt x="0" y="0"/>
                  </a:moveTo>
                  <a:lnTo>
                    <a:pt x="2861840" y="0"/>
                  </a:lnTo>
                  <a:lnTo>
                    <a:pt x="2861840" y="1333906"/>
                  </a:lnTo>
                  <a:lnTo>
                    <a:pt x="0" y="1333906"/>
                  </a:lnTo>
                  <a:lnTo>
                    <a:pt x="0" y="0"/>
                  </a:lnTo>
                  <a:close/>
                </a:path>
              </a:pathLst>
            </a:custGeom>
            <a:blipFill>
              <a:blip r:embed="rId4">
                <a:extLst>
                  <a:ext uri="{96DAC541-7B7A-43D3-8B79-37D633B846F1}">
                    <asvg:svgBlip xmlns:asvg="http://schemas.microsoft.com/office/drawing/2016/SVG/main" r:embed="rId5"/>
                  </a:ext>
                </a:extLst>
              </a:blip>
              <a:stretch>
                <a:fillRect t="-114545"/>
              </a:stretch>
            </a:blipFill>
            <a:ln cap="sq">
              <a:noFill/>
              <a:prstDash val="solid"/>
              <a:miter/>
            </a:ln>
          </p:spPr>
        </p:sp>
        <p:sp>
          <p:nvSpPr>
            <p:cNvPr id="37" name="TextBox 37"/>
            <p:cNvSpPr txBox="1"/>
            <p:nvPr/>
          </p:nvSpPr>
          <p:spPr>
            <a:xfrm>
              <a:off x="291436" y="2679334"/>
              <a:ext cx="3556733" cy="2330464"/>
            </a:xfrm>
            <a:prstGeom prst="rect">
              <a:avLst/>
            </a:prstGeom>
          </p:spPr>
          <p:txBody>
            <a:bodyPr lIns="0" tIns="0" rIns="0" bIns="0" rtlCol="0" anchor="t">
              <a:spAutoFit/>
            </a:bodyPr>
            <a:lstStyle/>
            <a:p>
              <a:pPr algn="ctr">
                <a:lnSpc>
                  <a:spcPts val="2047"/>
                </a:lnSpc>
              </a:pPr>
              <a:r>
                <a:rPr lang="en-US" sz="1365">
                  <a:solidFill>
                    <a:srgbClr val="343432"/>
                  </a:solidFill>
                  <a:latin typeface="Open Sauce"/>
                  <a:ea typeface="Open Sauce"/>
                  <a:cs typeface="Open Sauce"/>
                  <a:sym typeface="Open Sauce"/>
                </a:rPr>
                <a:t>To support the tourism industry by allowing guides to know the exact locations of different animals with minimal disruption of habitats and optimizing resource use.</a:t>
              </a:r>
            </a:p>
            <a:p>
              <a:pPr marL="0" lvl="0" indent="0" algn="ctr">
                <a:lnSpc>
                  <a:spcPts val="2047"/>
                </a:lnSpc>
              </a:pPr>
              <a:endParaRPr lang="en-US" sz="1365">
                <a:solidFill>
                  <a:srgbClr val="343432"/>
                </a:solidFill>
                <a:latin typeface="Open Sauce"/>
                <a:ea typeface="Open Sauce"/>
                <a:cs typeface="Open Sauce"/>
                <a:sym typeface="Open Sauce"/>
              </a:endParaRPr>
            </a:p>
          </p:txBody>
        </p:sp>
        <p:sp>
          <p:nvSpPr>
            <p:cNvPr id="38" name="TextBox 38"/>
            <p:cNvSpPr txBox="1"/>
            <p:nvPr/>
          </p:nvSpPr>
          <p:spPr>
            <a:xfrm>
              <a:off x="1430756" y="102495"/>
              <a:ext cx="1249977" cy="788195"/>
            </a:xfrm>
            <a:prstGeom prst="rect">
              <a:avLst/>
            </a:prstGeom>
          </p:spPr>
          <p:txBody>
            <a:bodyPr lIns="0" tIns="0" rIns="0" bIns="0" rtlCol="0" anchor="t">
              <a:spAutoFit/>
            </a:bodyPr>
            <a:lstStyle/>
            <a:p>
              <a:pPr marL="0" lvl="0" indent="0" algn="ctr">
                <a:lnSpc>
                  <a:spcPts val="4895"/>
                </a:lnSpc>
                <a:spcBef>
                  <a:spcPct val="0"/>
                </a:spcBef>
              </a:pPr>
              <a:r>
                <a:rPr lang="en-US" sz="3824" b="1">
                  <a:solidFill>
                    <a:srgbClr val="F8F8F8"/>
                  </a:solidFill>
                  <a:latin typeface="Open Sauce Bold"/>
                  <a:ea typeface="Open Sauce Bold"/>
                  <a:cs typeface="Open Sauce Bold"/>
                  <a:sym typeface="Open Sauce Bold"/>
                </a:rPr>
                <a:t>04</a:t>
              </a:r>
            </a:p>
          </p:txBody>
        </p:sp>
        <p:sp>
          <p:nvSpPr>
            <p:cNvPr id="39" name="Freeform 39"/>
            <p:cNvSpPr/>
            <p:nvPr/>
          </p:nvSpPr>
          <p:spPr>
            <a:xfrm>
              <a:off x="1430756" y="1484037"/>
              <a:ext cx="1236091" cy="1083265"/>
            </a:xfrm>
            <a:custGeom>
              <a:avLst/>
              <a:gdLst/>
              <a:ahLst/>
              <a:cxnLst/>
              <a:rect l="l" t="t" r="r" b="b"/>
              <a:pathLst>
                <a:path w="1236091" h="1083265">
                  <a:moveTo>
                    <a:pt x="0" y="0"/>
                  </a:moveTo>
                  <a:lnTo>
                    <a:pt x="1236091" y="0"/>
                  </a:lnTo>
                  <a:lnTo>
                    <a:pt x="1236091" y="1083265"/>
                  </a:lnTo>
                  <a:lnTo>
                    <a:pt x="0" y="108326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3"/>
            <a:stretch>
              <a:fillRect t="-38888" b="-38888"/>
            </a:stretch>
          </a:blipFill>
        </p:spPr>
      </p:sp>
      <p:grpSp>
        <p:nvGrpSpPr>
          <p:cNvPr id="3" name="Group 3"/>
          <p:cNvGrpSpPr/>
          <p:nvPr/>
        </p:nvGrpSpPr>
        <p:grpSpPr>
          <a:xfrm>
            <a:off x="-528002" y="0"/>
            <a:ext cx="19048322" cy="3086100"/>
            <a:chOff x="0" y="0"/>
            <a:chExt cx="5016842" cy="812800"/>
          </a:xfrm>
        </p:grpSpPr>
        <p:sp>
          <p:nvSpPr>
            <p:cNvPr id="4" name="Freeform 4"/>
            <p:cNvSpPr/>
            <p:nvPr/>
          </p:nvSpPr>
          <p:spPr>
            <a:xfrm>
              <a:off x="0" y="0"/>
              <a:ext cx="5016842" cy="812800"/>
            </a:xfrm>
            <a:custGeom>
              <a:avLst/>
              <a:gdLst/>
              <a:ahLst/>
              <a:cxnLst/>
              <a:rect l="l" t="t" r="r" b="b"/>
              <a:pathLst>
                <a:path w="5016842" h="812800">
                  <a:moveTo>
                    <a:pt x="0" y="0"/>
                  </a:moveTo>
                  <a:lnTo>
                    <a:pt x="5016842" y="0"/>
                  </a:lnTo>
                  <a:lnTo>
                    <a:pt x="5016842" y="812800"/>
                  </a:lnTo>
                  <a:lnTo>
                    <a:pt x="0" y="812800"/>
                  </a:lnTo>
                  <a:close/>
                </a:path>
              </a:pathLst>
            </a:custGeom>
            <a:solidFill>
              <a:srgbClr val="1C5739"/>
            </a:solidFill>
          </p:spPr>
        </p:sp>
        <p:sp>
          <p:nvSpPr>
            <p:cNvPr id="5" name="TextBox 5"/>
            <p:cNvSpPr txBox="1"/>
            <p:nvPr/>
          </p:nvSpPr>
          <p:spPr>
            <a:xfrm>
              <a:off x="0" y="-19050"/>
              <a:ext cx="5016842" cy="831850"/>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929623" y="3875422"/>
            <a:ext cx="4473739" cy="3852699"/>
          </a:xfrm>
          <a:custGeom>
            <a:avLst/>
            <a:gdLst/>
            <a:ahLst/>
            <a:cxnLst/>
            <a:rect l="l" t="t" r="r" b="b"/>
            <a:pathLst>
              <a:path w="4473739" h="3852699">
                <a:moveTo>
                  <a:pt x="0" y="0"/>
                </a:moveTo>
                <a:lnTo>
                  <a:pt x="4473739" y="0"/>
                </a:lnTo>
                <a:lnTo>
                  <a:pt x="4473739" y="3852699"/>
                </a:lnTo>
                <a:lnTo>
                  <a:pt x="0" y="3852699"/>
                </a:lnTo>
                <a:lnTo>
                  <a:pt x="0" y="0"/>
                </a:lnTo>
                <a:close/>
              </a:path>
            </a:pathLst>
          </a:custGeom>
          <a:blipFill>
            <a:blip r:embed="rId4"/>
            <a:stretch>
              <a:fillRect l="-21034" t="-9911" r="-21034"/>
            </a:stretch>
          </a:blipFill>
        </p:spPr>
      </p:sp>
      <p:grpSp>
        <p:nvGrpSpPr>
          <p:cNvPr id="7" name="Group 7"/>
          <p:cNvGrpSpPr/>
          <p:nvPr/>
        </p:nvGrpSpPr>
        <p:grpSpPr>
          <a:xfrm>
            <a:off x="1929623" y="3442596"/>
            <a:ext cx="4473739" cy="636748"/>
            <a:chOff x="0" y="0"/>
            <a:chExt cx="1178269" cy="167703"/>
          </a:xfrm>
        </p:grpSpPr>
        <p:sp>
          <p:nvSpPr>
            <p:cNvPr id="8" name="Freeform 8"/>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C5739"/>
            </a:solidFill>
          </p:spPr>
        </p:sp>
        <p:sp>
          <p:nvSpPr>
            <p:cNvPr id="9" name="TextBox 9"/>
            <p:cNvSpPr txBox="1"/>
            <p:nvPr/>
          </p:nvSpPr>
          <p:spPr>
            <a:xfrm>
              <a:off x="0" y="-47625"/>
              <a:ext cx="1178269" cy="215328"/>
            </a:xfrm>
            <a:prstGeom prst="rect">
              <a:avLst/>
            </a:prstGeom>
          </p:spPr>
          <p:txBody>
            <a:bodyPr lIns="50800" tIns="50800" rIns="50800" bIns="50800" rtlCol="0" anchor="ctr"/>
            <a:lstStyle/>
            <a:p>
              <a:pPr marL="0" lvl="0" indent="0" algn="ctr">
                <a:lnSpc>
                  <a:spcPts val="3424"/>
                </a:lnSpc>
                <a:spcBef>
                  <a:spcPct val="0"/>
                </a:spcBef>
              </a:pPr>
              <a:r>
                <a:rPr lang="en-US" sz="2481" i="1" spc="24">
                  <a:solidFill>
                    <a:srgbClr val="FFFFFF"/>
                  </a:solidFill>
                  <a:latin typeface="Open Sauce Italics"/>
                  <a:ea typeface="Open Sauce Italics"/>
                  <a:cs typeface="Open Sauce Italics"/>
                  <a:sym typeface="Open Sauce Italics"/>
                </a:rPr>
                <a:t>WIldlife conservationists</a:t>
              </a:r>
            </a:p>
          </p:txBody>
        </p:sp>
      </p:grpSp>
      <p:grpSp>
        <p:nvGrpSpPr>
          <p:cNvPr id="10" name="Group 10"/>
          <p:cNvGrpSpPr/>
          <p:nvPr/>
        </p:nvGrpSpPr>
        <p:grpSpPr>
          <a:xfrm>
            <a:off x="1929623" y="7902043"/>
            <a:ext cx="4473739" cy="1356257"/>
            <a:chOff x="0" y="0"/>
            <a:chExt cx="1178269" cy="357204"/>
          </a:xfrm>
        </p:grpSpPr>
        <p:sp>
          <p:nvSpPr>
            <p:cNvPr id="11" name="Freeform 11"/>
            <p:cNvSpPr/>
            <p:nvPr/>
          </p:nvSpPr>
          <p:spPr>
            <a:xfrm>
              <a:off x="0" y="0"/>
              <a:ext cx="1178269" cy="357204"/>
            </a:xfrm>
            <a:custGeom>
              <a:avLst/>
              <a:gdLst/>
              <a:ahLst/>
              <a:cxnLst/>
              <a:rect l="l" t="t" r="r" b="b"/>
              <a:pathLst>
                <a:path w="1178269" h="357204">
                  <a:moveTo>
                    <a:pt x="0" y="0"/>
                  </a:moveTo>
                  <a:lnTo>
                    <a:pt x="1178269" y="0"/>
                  </a:lnTo>
                  <a:lnTo>
                    <a:pt x="1178269" y="357204"/>
                  </a:lnTo>
                  <a:lnTo>
                    <a:pt x="0" y="357204"/>
                  </a:lnTo>
                  <a:close/>
                </a:path>
              </a:pathLst>
            </a:custGeom>
            <a:solidFill>
              <a:srgbClr val="397D5A"/>
            </a:solidFill>
          </p:spPr>
        </p:sp>
        <p:sp>
          <p:nvSpPr>
            <p:cNvPr id="12" name="TextBox 12"/>
            <p:cNvSpPr txBox="1"/>
            <p:nvPr/>
          </p:nvSpPr>
          <p:spPr>
            <a:xfrm>
              <a:off x="0" y="-19050"/>
              <a:ext cx="1178269" cy="376254"/>
            </a:xfrm>
            <a:prstGeom prst="rect">
              <a:avLst/>
            </a:prstGeom>
          </p:spPr>
          <p:txBody>
            <a:bodyPr lIns="114300" tIns="114300" rIns="114300" bIns="114300" rtlCol="0" anchor="ctr"/>
            <a:lstStyle/>
            <a:p>
              <a:pPr marL="0" lvl="0" indent="0" algn="ctr">
                <a:lnSpc>
                  <a:spcPts val="2070"/>
                </a:lnSpc>
                <a:spcBef>
                  <a:spcPct val="0"/>
                </a:spcBef>
              </a:pPr>
              <a:r>
                <a:rPr lang="en-US" sz="1500" i="1" spc="15">
                  <a:solidFill>
                    <a:srgbClr val="FFFFFF"/>
                  </a:solidFill>
                  <a:latin typeface="Open Sauce Italics"/>
                  <a:ea typeface="Open Sauce Italics"/>
                  <a:cs typeface="Open Sauce Italics"/>
                  <a:sym typeface="Open Sauce Italics"/>
                </a:rPr>
                <a:t>In Kenya the KWS and other privately funded companies work tirelessly to preserve our wildlife and keep them safe.</a:t>
              </a:r>
            </a:p>
          </p:txBody>
        </p:sp>
      </p:grpSp>
      <p:sp>
        <p:nvSpPr>
          <p:cNvPr id="13" name="Freeform 13"/>
          <p:cNvSpPr/>
          <p:nvPr/>
        </p:nvSpPr>
        <p:spPr>
          <a:xfrm>
            <a:off x="6906074" y="3875422"/>
            <a:ext cx="4473739" cy="3852699"/>
          </a:xfrm>
          <a:custGeom>
            <a:avLst/>
            <a:gdLst/>
            <a:ahLst/>
            <a:cxnLst/>
            <a:rect l="l" t="t" r="r" b="b"/>
            <a:pathLst>
              <a:path w="4473739" h="3852699">
                <a:moveTo>
                  <a:pt x="0" y="0"/>
                </a:moveTo>
                <a:lnTo>
                  <a:pt x="4473739" y="0"/>
                </a:lnTo>
                <a:lnTo>
                  <a:pt x="4473739" y="3852699"/>
                </a:lnTo>
                <a:lnTo>
                  <a:pt x="0" y="3852699"/>
                </a:lnTo>
                <a:lnTo>
                  <a:pt x="0" y="0"/>
                </a:lnTo>
                <a:close/>
              </a:path>
            </a:pathLst>
          </a:custGeom>
          <a:blipFill>
            <a:blip r:embed="rId5"/>
            <a:stretch>
              <a:fillRect l="-14628" r="-14628"/>
            </a:stretch>
          </a:blipFill>
        </p:spPr>
      </p:sp>
      <p:grpSp>
        <p:nvGrpSpPr>
          <p:cNvPr id="14" name="Group 14"/>
          <p:cNvGrpSpPr/>
          <p:nvPr/>
        </p:nvGrpSpPr>
        <p:grpSpPr>
          <a:xfrm>
            <a:off x="6906074" y="3442596"/>
            <a:ext cx="4473739" cy="636748"/>
            <a:chOff x="0" y="0"/>
            <a:chExt cx="1178269" cy="167703"/>
          </a:xfrm>
        </p:grpSpPr>
        <p:sp>
          <p:nvSpPr>
            <p:cNvPr id="15" name="Freeform 15"/>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C5739"/>
            </a:solidFill>
          </p:spPr>
        </p:sp>
        <p:sp>
          <p:nvSpPr>
            <p:cNvPr id="16" name="TextBox 16"/>
            <p:cNvSpPr txBox="1"/>
            <p:nvPr/>
          </p:nvSpPr>
          <p:spPr>
            <a:xfrm>
              <a:off x="0" y="-47625"/>
              <a:ext cx="1178269" cy="215328"/>
            </a:xfrm>
            <a:prstGeom prst="rect">
              <a:avLst/>
            </a:prstGeom>
          </p:spPr>
          <p:txBody>
            <a:bodyPr lIns="50800" tIns="50800" rIns="50800" bIns="50800" rtlCol="0" anchor="ctr"/>
            <a:lstStyle/>
            <a:p>
              <a:pPr marL="0" lvl="0" indent="0" algn="ctr">
                <a:lnSpc>
                  <a:spcPts val="3424"/>
                </a:lnSpc>
                <a:spcBef>
                  <a:spcPct val="0"/>
                </a:spcBef>
              </a:pPr>
              <a:r>
                <a:rPr lang="en-US" sz="2481" i="1" spc="24">
                  <a:solidFill>
                    <a:srgbClr val="FFFFFF"/>
                  </a:solidFill>
                  <a:latin typeface="Open Sauce Italics"/>
                  <a:ea typeface="Open Sauce Italics"/>
                  <a:cs typeface="Open Sauce Italics"/>
                  <a:sym typeface="Open Sauce Italics"/>
                </a:rPr>
                <a:t>Safari &amp; Tourism companies </a:t>
              </a:r>
            </a:p>
          </p:txBody>
        </p:sp>
      </p:grpSp>
      <p:grpSp>
        <p:nvGrpSpPr>
          <p:cNvPr id="17" name="Group 17"/>
          <p:cNvGrpSpPr/>
          <p:nvPr/>
        </p:nvGrpSpPr>
        <p:grpSpPr>
          <a:xfrm>
            <a:off x="6906074" y="7902043"/>
            <a:ext cx="4473739" cy="1356257"/>
            <a:chOff x="0" y="0"/>
            <a:chExt cx="1178269" cy="357204"/>
          </a:xfrm>
        </p:grpSpPr>
        <p:sp>
          <p:nvSpPr>
            <p:cNvPr id="18" name="Freeform 18"/>
            <p:cNvSpPr/>
            <p:nvPr/>
          </p:nvSpPr>
          <p:spPr>
            <a:xfrm>
              <a:off x="0" y="0"/>
              <a:ext cx="1178269" cy="357204"/>
            </a:xfrm>
            <a:custGeom>
              <a:avLst/>
              <a:gdLst/>
              <a:ahLst/>
              <a:cxnLst/>
              <a:rect l="l" t="t" r="r" b="b"/>
              <a:pathLst>
                <a:path w="1178269" h="357204">
                  <a:moveTo>
                    <a:pt x="0" y="0"/>
                  </a:moveTo>
                  <a:lnTo>
                    <a:pt x="1178269" y="0"/>
                  </a:lnTo>
                  <a:lnTo>
                    <a:pt x="1178269" y="357204"/>
                  </a:lnTo>
                  <a:lnTo>
                    <a:pt x="0" y="357204"/>
                  </a:lnTo>
                  <a:close/>
                </a:path>
              </a:pathLst>
            </a:custGeom>
            <a:solidFill>
              <a:srgbClr val="397D5A"/>
            </a:solidFill>
          </p:spPr>
        </p:sp>
        <p:sp>
          <p:nvSpPr>
            <p:cNvPr id="19" name="TextBox 19"/>
            <p:cNvSpPr txBox="1"/>
            <p:nvPr/>
          </p:nvSpPr>
          <p:spPr>
            <a:xfrm>
              <a:off x="0" y="-19050"/>
              <a:ext cx="1178269" cy="376254"/>
            </a:xfrm>
            <a:prstGeom prst="rect">
              <a:avLst/>
            </a:prstGeom>
          </p:spPr>
          <p:txBody>
            <a:bodyPr lIns="114300" tIns="114300" rIns="114300" bIns="114300" rtlCol="0" anchor="ctr"/>
            <a:lstStyle/>
            <a:p>
              <a:pPr marL="0" lvl="0" indent="0" algn="ctr">
                <a:lnSpc>
                  <a:spcPts val="2070"/>
                </a:lnSpc>
                <a:spcBef>
                  <a:spcPct val="0"/>
                </a:spcBef>
              </a:pPr>
              <a:r>
                <a:rPr lang="en-US" sz="1500" i="1" spc="15">
                  <a:solidFill>
                    <a:srgbClr val="FFFFFF"/>
                  </a:solidFill>
                  <a:latin typeface="Open Sauce Italics"/>
                  <a:ea typeface="Open Sauce Italics"/>
                  <a:cs typeface="Open Sauce Italics"/>
                  <a:sym typeface="Open Sauce Italics"/>
                </a:rPr>
                <a:t>Tourism allows those from different places to visit and see the wonderful things nature has to offer. It also helps boost local economies.</a:t>
              </a:r>
            </a:p>
          </p:txBody>
        </p:sp>
      </p:grpSp>
      <p:sp>
        <p:nvSpPr>
          <p:cNvPr id="20" name="Freeform 20"/>
          <p:cNvSpPr/>
          <p:nvPr/>
        </p:nvSpPr>
        <p:spPr>
          <a:xfrm>
            <a:off x="11884638" y="3875422"/>
            <a:ext cx="4473739" cy="3852699"/>
          </a:xfrm>
          <a:custGeom>
            <a:avLst/>
            <a:gdLst/>
            <a:ahLst/>
            <a:cxnLst/>
            <a:rect l="l" t="t" r="r" b="b"/>
            <a:pathLst>
              <a:path w="4473739" h="3852699">
                <a:moveTo>
                  <a:pt x="0" y="0"/>
                </a:moveTo>
                <a:lnTo>
                  <a:pt x="4473739" y="0"/>
                </a:lnTo>
                <a:lnTo>
                  <a:pt x="4473739" y="3852699"/>
                </a:lnTo>
                <a:lnTo>
                  <a:pt x="0" y="3852699"/>
                </a:lnTo>
                <a:lnTo>
                  <a:pt x="0" y="0"/>
                </a:lnTo>
                <a:close/>
              </a:path>
            </a:pathLst>
          </a:custGeom>
          <a:blipFill>
            <a:blip r:embed="rId6"/>
            <a:stretch>
              <a:fillRect t="-37144" b="-37144"/>
            </a:stretch>
          </a:blipFill>
        </p:spPr>
      </p:sp>
      <p:grpSp>
        <p:nvGrpSpPr>
          <p:cNvPr id="21" name="Group 21"/>
          <p:cNvGrpSpPr/>
          <p:nvPr/>
        </p:nvGrpSpPr>
        <p:grpSpPr>
          <a:xfrm>
            <a:off x="11884638" y="3442596"/>
            <a:ext cx="4473739" cy="636748"/>
            <a:chOff x="0" y="0"/>
            <a:chExt cx="1178269" cy="167703"/>
          </a:xfrm>
        </p:grpSpPr>
        <p:sp>
          <p:nvSpPr>
            <p:cNvPr id="22" name="Freeform 22"/>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C5739"/>
            </a:solidFill>
          </p:spPr>
        </p:sp>
        <p:sp>
          <p:nvSpPr>
            <p:cNvPr id="23" name="TextBox 23"/>
            <p:cNvSpPr txBox="1"/>
            <p:nvPr/>
          </p:nvSpPr>
          <p:spPr>
            <a:xfrm>
              <a:off x="0" y="-47625"/>
              <a:ext cx="1178269" cy="215328"/>
            </a:xfrm>
            <a:prstGeom prst="rect">
              <a:avLst/>
            </a:prstGeom>
          </p:spPr>
          <p:txBody>
            <a:bodyPr lIns="50800" tIns="50800" rIns="50800" bIns="50800" rtlCol="0" anchor="ctr"/>
            <a:lstStyle/>
            <a:p>
              <a:pPr marL="0" lvl="0" indent="0" algn="ctr">
                <a:lnSpc>
                  <a:spcPts val="3424"/>
                </a:lnSpc>
                <a:spcBef>
                  <a:spcPct val="0"/>
                </a:spcBef>
              </a:pPr>
              <a:r>
                <a:rPr lang="en-US" sz="2481" i="1" spc="24">
                  <a:solidFill>
                    <a:srgbClr val="FFFFFF"/>
                  </a:solidFill>
                  <a:latin typeface="Open Sauce Italics"/>
                  <a:ea typeface="Open Sauce Italics"/>
                  <a:cs typeface="Open Sauce Italics"/>
                  <a:sym typeface="Open Sauce Italics"/>
                </a:rPr>
                <a:t>Academics</a:t>
              </a:r>
            </a:p>
          </p:txBody>
        </p:sp>
      </p:grpSp>
      <p:grpSp>
        <p:nvGrpSpPr>
          <p:cNvPr id="24" name="Group 24"/>
          <p:cNvGrpSpPr/>
          <p:nvPr/>
        </p:nvGrpSpPr>
        <p:grpSpPr>
          <a:xfrm>
            <a:off x="11884638" y="7902043"/>
            <a:ext cx="4473739" cy="1356257"/>
            <a:chOff x="0" y="0"/>
            <a:chExt cx="1178269" cy="357204"/>
          </a:xfrm>
        </p:grpSpPr>
        <p:sp>
          <p:nvSpPr>
            <p:cNvPr id="25" name="Freeform 25"/>
            <p:cNvSpPr/>
            <p:nvPr/>
          </p:nvSpPr>
          <p:spPr>
            <a:xfrm>
              <a:off x="0" y="0"/>
              <a:ext cx="1178269" cy="357204"/>
            </a:xfrm>
            <a:custGeom>
              <a:avLst/>
              <a:gdLst/>
              <a:ahLst/>
              <a:cxnLst/>
              <a:rect l="l" t="t" r="r" b="b"/>
              <a:pathLst>
                <a:path w="1178269" h="357204">
                  <a:moveTo>
                    <a:pt x="0" y="0"/>
                  </a:moveTo>
                  <a:lnTo>
                    <a:pt x="1178269" y="0"/>
                  </a:lnTo>
                  <a:lnTo>
                    <a:pt x="1178269" y="357204"/>
                  </a:lnTo>
                  <a:lnTo>
                    <a:pt x="0" y="357204"/>
                  </a:lnTo>
                  <a:close/>
                </a:path>
              </a:pathLst>
            </a:custGeom>
            <a:solidFill>
              <a:srgbClr val="397D5A"/>
            </a:solidFill>
          </p:spPr>
        </p:sp>
        <p:sp>
          <p:nvSpPr>
            <p:cNvPr id="26" name="TextBox 26"/>
            <p:cNvSpPr txBox="1"/>
            <p:nvPr/>
          </p:nvSpPr>
          <p:spPr>
            <a:xfrm>
              <a:off x="0" y="-19050"/>
              <a:ext cx="1178269" cy="376254"/>
            </a:xfrm>
            <a:prstGeom prst="rect">
              <a:avLst/>
            </a:prstGeom>
          </p:spPr>
          <p:txBody>
            <a:bodyPr lIns="114300" tIns="114300" rIns="114300" bIns="114300" rtlCol="0" anchor="ctr"/>
            <a:lstStyle/>
            <a:p>
              <a:pPr marL="0" lvl="0" indent="0" algn="ctr">
                <a:lnSpc>
                  <a:spcPts val="2070"/>
                </a:lnSpc>
                <a:spcBef>
                  <a:spcPct val="0"/>
                </a:spcBef>
              </a:pPr>
              <a:r>
                <a:rPr lang="en-US" sz="1500" i="1" spc="15">
                  <a:solidFill>
                    <a:srgbClr val="FFFFFF"/>
                  </a:solidFill>
                  <a:latin typeface="Open Sauce Italics"/>
                  <a:ea typeface="Open Sauce Italics"/>
                  <a:cs typeface="Open Sauce Italics"/>
                  <a:sym typeface="Open Sauce Italics"/>
                </a:rPr>
                <a:t>Learning about different animals and documenting their characteristics and traits preserves precious knowledge</a:t>
              </a:r>
            </a:p>
          </p:txBody>
        </p:sp>
      </p:grpSp>
      <p:sp>
        <p:nvSpPr>
          <p:cNvPr id="27" name="Freeform 27"/>
          <p:cNvSpPr/>
          <p:nvPr/>
        </p:nvSpPr>
        <p:spPr>
          <a:xfrm>
            <a:off x="15408481" y="-2153153"/>
            <a:ext cx="4116356" cy="4116356"/>
          </a:xfrm>
          <a:custGeom>
            <a:avLst/>
            <a:gdLst/>
            <a:ahLst/>
            <a:cxnLst/>
            <a:rect l="l" t="t" r="r" b="b"/>
            <a:pathLst>
              <a:path w="4116356" h="4116356">
                <a:moveTo>
                  <a:pt x="0" y="0"/>
                </a:moveTo>
                <a:lnTo>
                  <a:pt x="4116355" y="0"/>
                </a:lnTo>
                <a:lnTo>
                  <a:pt x="4116355" y="4116356"/>
                </a:lnTo>
                <a:lnTo>
                  <a:pt x="0" y="411635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Freeform 28"/>
          <p:cNvSpPr/>
          <p:nvPr/>
        </p:nvSpPr>
        <p:spPr>
          <a:xfrm>
            <a:off x="-2602379" y="0"/>
            <a:ext cx="3256087" cy="3256087"/>
          </a:xfrm>
          <a:custGeom>
            <a:avLst/>
            <a:gdLst/>
            <a:ahLst/>
            <a:cxnLst/>
            <a:rect l="l" t="t" r="r" b="b"/>
            <a:pathLst>
              <a:path w="3256087" h="3256087">
                <a:moveTo>
                  <a:pt x="0" y="0"/>
                </a:moveTo>
                <a:lnTo>
                  <a:pt x="3256087" y="0"/>
                </a:lnTo>
                <a:lnTo>
                  <a:pt x="3256087" y="3256087"/>
                </a:lnTo>
                <a:lnTo>
                  <a:pt x="0" y="32560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Freeform 29"/>
          <p:cNvSpPr/>
          <p:nvPr/>
        </p:nvSpPr>
        <p:spPr>
          <a:xfrm>
            <a:off x="1929623" y="4079343"/>
            <a:ext cx="4471627" cy="3822699"/>
          </a:xfrm>
          <a:custGeom>
            <a:avLst/>
            <a:gdLst/>
            <a:ahLst/>
            <a:cxnLst/>
            <a:rect l="l" t="t" r="r" b="b"/>
            <a:pathLst>
              <a:path w="4471627" h="3822699">
                <a:moveTo>
                  <a:pt x="0" y="0"/>
                </a:moveTo>
                <a:lnTo>
                  <a:pt x="4471626" y="0"/>
                </a:lnTo>
                <a:lnTo>
                  <a:pt x="4471626" y="3822700"/>
                </a:lnTo>
                <a:lnTo>
                  <a:pt x="0" y="3822700"/>
                </a:lnTo>
                <a:lnTo>
                  <a:pt x="0" y="0"/>
                </a:lnTo>
                <a:close/>
              </a:path>
            </a:pathLst>
          </a:custGeom>
          <a:blipFill>
            <a:blip r:embed="rId9"/>
            <a:stretch>
              <a:fillRect l="-18388" t="-29904" r="-72457" b="-20528"/>
            </a:stretch>
          </a:blipFill>
        </p:spPr>
      </p:sp>
      <p:sp>
        <p:nvSpPr>
          <p:cNvPr id="30" name="Freeform 30"/>
          <p:cNvSpPr/>
          <p:nvPr/>
        </p:nvSpPr>
        <p:spPr>
          <a:xfrm>
            <a:off x="6898373" y="4079343"/>
            <a:ext cx="4491254" cy="3922702"/>
          </a:xfrm>
          <a:custGeom>
            <a:avLst/>
            <a:gdLst/>
            <a:ahLst/>
            <a:cxnLst/>
            <a:rect l="l" t="t" r="r" b="b"/>
            <a:pathLst>
              <a:path w="4491254" h="3922702">
                <a:moveTo>
                  <a:pt x="0" y="0"/>
                </a:moveTo>
                <a:lnTo>
                  <a:pt x="4491254" y="0"/>
                </a:lnTo>
                <a:lnTo>
                  <a:pt x="4491254" y="3922703"/>
                </a:lnTo>
                <a:lnTo>
                  <a:pt x="0" y="3922703"/>
                </a:lnTo>
                <a:lnTo>
                  <a:pt x="0" y="0"/>
                </a:lnTo>
                <a:close/>
              </a:path>
            </a:pathLst>
          </a:custGeom>
          <a:blipFill>
            <a:blip r:embed="rId10"/>
            <a:stretch>
              <a:fillRect l="-49873" t="-9904" r="-25721" b="-1425"/>
            </a:stretch>
          </a:blipFill>
        </p:spPr>
      </p:sp>
      <p:sp>
        <p:nvSpPr>
          <p:cNvPr id="31" name="Freeform 31"/>
          <p:cNvSpPr/>
          <p:nvPr/>
        </p:nvSpPr>
        <p:spPr>
          <a:xfrm>
            <a:off x="11907840" y="4079343"/>
            <a:ext cx="4427336" cy="3822699"/>
          </a:xfrm>
          <a:custGeom>
            <a:avLst/>
            <a:gdLst/>
            <a:ahLst/>
            <a:cxnLst/>
            <a:rect l="l" t="t" r="r" b="b"/>
            <a:pathLst>
              <a:path w="4427336" h="3822699">
                <a:moveTo>
                  <a:pt x="0" y="0"/>
                </a:moveTo>
                <a:lnTo>
                  <a:pt x="4427336" y="0"/>
                </a:lnTo>
                <a:lnTo>
                  <a:pt x="4427336" y="3822700"/>
                </a:lnTo>
                <a:lnTo>
                  <a:pt x="0" y="3822700"/>
                </a:lnTo>
                <a:lnTo>
                  <a:pt x="0" y="0"/>
                </a:lnTo>
                <a:close/>
              </a:path>
            </a:pathLst>
          </a:custGeom>
          <a:blipFill>
            <a:blip r:embed="rId11"/>
            <a:stretch>
              <a:fillRect b="-15816"/>
            </a:stretch>
          </a:blipFill>
        </p:spPr>
      </p:sp>
      <p:sp>
        <p:nvSpPr>
          <p:cNvPr id="32" name="TextBox 32"/>
          <p:cNvSpPr txBox="1"/>
          <p:nvPr/>
        </p:nvSpPr>
        <p:spPr>
          <a:xfrm>
            <a:off x="3690980" y="1156086"/>
            <a:ext cx="10713642" cy="1404684"/>
          </a:xfrm>
          <a:prstGeom prst="rect">
            <a:avLst/>
          </a:prstGeom>
        </p:spPr>
        <p:txBody>
          <a:bodyPr lIns="0" tIns="0" rIns="0" bIns="0" rtlCol="0" anchor="t">
            <a:spAutoFit/>
          </a:bodyPr>
          <a:lstStyle/>
          <a:p>
            <a:pPr algn="ctr">
              <a:lnSpc>
                <a:spcPts val="10886"/>
              </a:lnSpc>
            </a:pPr>
            <a:r>
              <a:rPr lang="en-US" sz="7888" spc="773">
                <a:solidFill>
                  <a:srgbClr val="FFFFFF"/>
                </a:solidFill>
                <a:latin typeface="Poppins"/>
                <a:ea typeface="Poppins"/>
                <a:cs typeface="Poppins"/>
                <a:sym typeface="Poppins"/>
              </a:rPr>
              <a:t>Target Audience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0" y="35970"/>
            <a:ext cx="18288000" cy="10251030"/>
            <a:chOff x="0" y="0"/>
            <a:chExt cx="4816593" cy="2699860"/>
          </a:xfrm>
        </p:grpSpPr>
        <p:sp>
          <p:nvSpPr>
            <p:cNvPr id="3" name="Freeform 3"/>
            <p:cNvSpPr/>
            <p:nvPr/>
          </p:nvSpPr>
          <p:spPr>
            <a:xfrm>
              <a:off x="0" y="0"/>
              <a:ext cx="4816592" cy="2699860"/>
            </a:xfrm>
            <a:custGeom>
              <a:avLst/>
              <a:gdLst/>
              <a:ahLst/>
              <a:cxnLst/>
              <a:rect l="l" t="t" r="r" b="b"/>
              <a:pathLst>
                <a:path w="4816592" h="2699860">
                  <a:moveTo>
                    <a:pt x="0" y="0"/>
                  </a:moveTo>
                  <a:lnTo>
                    <a:pt x="4816592" y="0"/>
                  </a:lnTo>
                  <a:lnTo>
                    <a:pt x="4816592" y="2699860"/>
                  </a:lnTo>
                  <a:lnTo>
                    <a:pt x="0" y="2699860"/>
                  </a:lnTo>
                  <a:close/>
                </a:path>
              </a:pathLst>
            </a:custGeom>
            <a:solidFill>
              <a:srgbClr val="000000">
                <a:alpha val="0"/>
              </a:srgbClr>
            </a:solidFill>
            <a:ln w="381000" cap="sq">
              <a:solidFill>
                <a:srgbClr val="1C5739"/>
              </a:solidFill>
              <a:prstDash val="solid"/>
              <a:miter/>
            </a:ln>
          </p:spPr>
        </p:sp>
        <p:sp>
          <p:nvSpPr>
            <p:cNvPr id="4" name="TextBox 4"/>
            <p:cNvSpPr txBox="1"/>
            <p:nvPr/>
          </p:nvSpPr>
          <p:spPr>
            <a:xfrm>
              <a:off x="0" y="-38100"/>
              <a:ext cx="4816593" cy="2737960"/>
            </a:xfrm>
            <a:prstGeom prst="rect">
              <a:avLst/>
            </a:prstGeom>
          </p:spPr>
          <p:txBody>
            <a:bodyPr lIns="50800" tIns="50800" rIns="50800" bIns="50800" rtlCol="0" anchor="ctr"/>
            <a:lstStyle/>
            <a:p>
              <a:pPr algn="ctr">
                <a:lnSpc>
                  <a:spcPts val="3035"/>
                </a:lnSpc>
              </a:pPr>
              <a:endParaRPr/>
            </a:p>
          </p:txBody>
        </p:sp>
      </p:grpSp>
      <p:sp>
        <p:nvSpPr>
          <p:cNvPr id="5" name="Freeform 5"/>
          <p:cNvSpPr/>
          <p:nvPr/>
        </p:nvSpPr>
        <p:spPr>
          <a:xfrm>
            <a:off x="8782051" y="699333"/>
            <a:ext cx="8477249" cy="8888334"/>
          </a:xfrm>
          <a:custGeom>
            <a:avLst/>
            <a:gdLst/>
            <a:ahLst/>
            <a:cxnLst/>
            <a:rect l="l" t="t" r="r" b="b"/>
            <a:pathLst>
              <a:path w="8477249" h="8888334">
                <a:moveTo>
                  <a:pt x="0" y="0"/>
                </a:moveTo>
                <a:lnTo>
                  <a:pt x="8477249" y="0"/>
                </a:lnTo>
                <a:lnTo>
                  <a:pt x="8477249" y="8888334"/>
                </a:lnTo>
                <a:lnTo>
                  <a:pt x="0" y="8888334"/>
                </a:lnTo>
                <a:lnTo>
                  <a:pt x="0" y="0"/>
                </a:lnTo>
                <a:close/>
              </a:path>
            </a:pathLst>
          </a:custGeom>
          <a:blipFill>
            <a:blip r:embed="rId2"/>
            <a:stretch>
              <a:fillRect/>
            </a:stretch>
          </a:blipFill>
          <a:ln w="104775" cap="sq">
            <a:solidFill>
              <a:srgbClr val="000000"/>
            </a:solidFill>
            <a:prstDash val="solid"/>
            <a:miter/>
          </a:ln>
        </p:spPr>
      </p:sp>
      <p:sp>
        <p:nvSpPr>
          <p:cNvPr id="6" name="TextBox 6"/>
          <p:cNvSpPr txBox="1"/>
          <p:nvPr/>
        </p:nvSpPr>
        <p:spPr>
          <a:xfrm>
            <a:off x="1295137" y="2409166"/>
            <a:ext cx="5376858" cy="808613"/>
          </a:xfrm>
          <a:prstGeom prst="rect">
            <a:avLst/>
          </a:prstGeom>
        </p:spPr>
        <p:txBody>
          <a:bodyPr lIns="0" tIns="0" rIns="0" bIns="0" rtlCol="0" anchor="t">
            <a:spAutoFit/>
          </a:bodyPr>
          <a:lstStyle/>
          <a:p>
            <a:pPr marL="0" lvl="0" indent="0" algn="l">
              <a:lnSpc>
                <a:spcPts val="6644"/>
              </a:lnSpc>
              <a:spcBef>
                <a:spcPct val="0"/>
              </a:spcBef>
            </a:pPr>
            <a:r>
              <a:rPr lang="en-US" sz="4746" b="1" spc="-94">
                <a:solidFill>
                  <a:srgbClr val="191919"/>
                </a:solidFill>
                <a:latin typeface="Open Sauce Bold"/>
                <a:ea typeface="Open Sauce Bold"/>
                <a:cs typeface="Open Sauce Bold"/>
                <a:sym typeface="Open Sauce Bold"/>
              </a:rPr>
              <a:t>Data</a:t>
            </a:r>
          </a:p>
        </p:txBody>
      </p:sp>
      <p:sp>
        <p:nvSpPr>
          <p:cNvPr id="7" name="TextBox 7"/>
          <p:cNvSpPr txBox="1"/>
          <p:nvPr/>
        </p:nvSpPr>
        <p:spPr>
          <a:xfrm>
            <a:off x="1295137" y="3654625"/>
            <a:ext cx="6274156" cy="4091100"/>
          </a:xfrm>
          <a:prstGeom prst="rect">
            <a:avLst/>
          </a:prstGeom>
        </p:spPr>
        <p:txBody>
          <a:bodyPr lIns="0" tIns="0" rIns="0" bIns="0" rtlCol="0" anchor="t">
            <a:spAutoFit/>
          </a:bodyPr>
          <a:lstStyle/>
          <a:p>
            <a:pPr marL="0" lvl="0" indent="0" algn="l">
              <a:lnSpc>
                <a:spcPts val="3656"/>
              </a:lnSpc>
            </a:pPr>
            <a:r>
              <a:rPr lang="en-US" sz="2453" spc="39">
                <a:solidFill>
                  <a:srgbClr val="191919"/>
                </a:solidFill>
                <a:latin typeface="Open Sauce"/>
                <a:ea typeface="Open Sauce"/>
                <a:cs typeface="Open Sauce"/>
                <a:sym typeface="Open Sauce"/>
              </a:rPr>
              <a:t>The</a:t>
            </a:r>
            <a:r>
              <a:rPr lang="en-US" sz="2453" u="none" strike="noStrike" spc="39">
                <a:solidFill>
                  <a:srgbClr val="191919"/>
                </a:solidFill>
                <a:latin typeface="Open Sauce"/>
                <a:ea typeface="Open Sauce"/>
                <a:cs typeface="Open Sauce"/>
                <a:sym typeface="Open Sauce"/>
              </a:rPr>
              <a:t> data is from an ongoing competition on DrivenData through a partnership with the Wild Chimpanzee Foundation and the Max Planck Institute for Evolutionary Anthropology. The camera traps are located in Taï National Park in Côte d'Ivoire</a:t>
            </a:r>
          </a:p>
          <a:p>
            <a:pPr marL="0" lvl="0" indent="0" algn="l">
              <a:lnSpc>
                <a:spcPts val="3656"/>
              </a:lnSpc>
            </a:pPr>
            <a:endParaRPr lang="en-US" sz="2453" u="none" strike="noStrike" spc="39">
              <a:solidFill>
                <a:srgbClr val="191919"/>
              </a:solidFill>
              <a:latin typeface="Open Sauce"/>
              <a:ea typeface="Open Sauce"/>
              <a:cs typeface="Open Sauce"/>
              <a:sym typeface="Open Sauce"/>
            </a:endParaRPr>
          </a:p>
          <a:p>
            <a:pPr marL="0" lvl="0" indent="0" algn="l">
              <a:lnSpc>
                <a:spcPts val="3656"/>
              </a:lnSpc>
            </a:pPr>
            <a:endParaRPr lang="en-US" sz="2453" u="none" strike="noStrike" spc="39">
              <a:solidFill>
                <a:srgbClr val="191919"/>
              </a:solidFill>
              <a:latin typeface="Open Sauce"/>
              <a:ea typeface="Open Sauce"/>
              <a:cs typeface="Open Sauce"/>
              <a:sym typeface="Open Sauc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811589" y="8007246"/>
            <a:ext cx="4201427" cy="420142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5" name="Group 5"/>
          <p:cNvGrpSpPr/>
          <p:nvPr/>
        </p:nvGrpSpPr>
        <p:grpSpPr>
          <a:xfrm>
            <a:off x="-1868494" y="-2100713"/>
            <a:ext cx="4201427" cy="420142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8" name="Group 8"/>
          <p:cNvGrpSpPr/>
          <p:nvPr/>
        </p:nvGrpSpPr>
        <p:grpSpPr>
          <a:xfrm>
            <a:off x="16067950" y="6633635"/>
            <a:ext cx="762083" cy="76208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1" name="Group 11"/>
          <p:cNvGrpSpPr/>
          <p:nvPr/>
        </p:nvGrpSpPr>
        <p:grpSpPr>
          <a:xfrm>
            <a:off x="-575233" y="9258300"/>
            <a:ext cx="1614906" cy="161490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14" name="TextBox 14"/>
          <p:cNvSpPr txBox="1"/>
          <p:nvPr/>
        </p:nvSpPr>
        <p:spPr>
          <a:xfrm>
            <a:off x="1372931" y="2200610"/>
            <a:ext cx="14833973" cy="6781850"/>
          </a:xfrm>
          <a:prstGeom prst="rect">
            <a:avLst/>
          </a:prstGeom>
        </p:spPr>
        <p:txBody>
          <a:bodyPr lIns="0" tIns="0" rIns="0" bIns="0" rtlCol="0" anchor="t">
            <a:spAutoFit/>
          </a:bodyPr>
          <a:lstStyle/>
          <a:p>
            <a:pPr marL="647273" lvl="1" indent="-323636" algn="just">
              <a:lnSpc>
                <a:spcPts val="4197"/>
              </a:lnSpc>
              <a:buFont typeface="Arial"/>
              <a:buChar char="•"/>
            </a:pPr>
            <a:r>
              <a:rPr lang="en-US" sz="2998">
                <a:solidFill>
                  <a:srgbClr val="000000"/>
                </a:solidFill>
                <a:latin typeface="Canva Sans"/>
                <a:ea typeface="Canva Sans"/>
                <a:cs typeface="Canva Sans"/>
                <a:sym typeface="Canva Sans"/>
              </a:rPr>
              <a:t>The dataset is comprised of over 16,000 manually labeled images by researchers in Taï National Park.</a:t>
            </a:r>
          </a:p>
          <a:p>
            <a:pPr algn="just">
              <a:lnSpc>
                <a:spcPts val="4197"/>
              </a:lnSpc>
            </a:pPr>
            <a:endParaRPr lang="en-US" sz="2998">
              <a:solidFill>
                <a:srgbClr val="000000"/>
              </a:solidFill>
              <a:latin typeface="Canva Sans"/>
              <a:ea typeface="Canva Sans"/>
              <a:cs typeface="Canva Sans"/>
              <a:sym typeface="Canva Sans"/>
            </a:endParaRPr>
          </a:p>
          <a:p>
            <a:pPr marL="647273" lvl="1" indent="-323636" algn="just">
              <a:lnSpc>
                <a:spcPts val="4197"/>
              </a:lnSpc>
              <a:buFont typeface="Arial"/>
              <a:buChar char="•"/>
            </a:pPr>
            <a:r>
              <a:rPr lang="en-US" sz="2998">
                <a:solidFill>
                  <a:srgbClr val="000000"/>
                </a:solidFill>
                <a:latin typeface="Canva Sans"/>
                <a:ea typeface="Canva Sans"/>
                <a:cs typeface="Canva Sans"/>
                <a:sym typeface="Canva Sans"/>
              </a:rPr>
              <a:t>Each image in this data set is labeled as one of 7 creatures: birds, civets, duikers, hogs, leopards, monkeys, rodents. Images with no animal on them are labeled blank.</a:t>
            </a:r>
          </a:p>
          <a:p>
            <a:pPr algn="just">
              <a:lnSpc>
                <a:spcPts val="4197"/>
              </a:lnSpc>
            </a:pPr>
            <a:endParaRPr lang="en-US" sz="2998">
              <a:solidFill>
                <a:srgbClr val="000000"/>
              </a:solidFill>
              <a:latin typeface="Canva Sans"/>
              <a:ea typeface="Canva Sans"/>
              <a:cs typeface="Canva Sans"/>
              <a:sym typeface="Canva Sans"/>
            </a:endParaRPr>
          </a:p>
          <a:p>
            <a:pPr algn="just">
              <a:lnSpc>
                <a:spcPts val="4197"/>
              </a:lnSpc>
            </a:pPr>
            <a:r>
              <a:rPr lang="en-US" sz="2998" b="1">
                <a:solidFill>
                  <a:srgbClr val="000000"/>
                </a:solidFill>
                <a:latin typeface="Canva Sans Bold"/>
                <a:ea typeface="Canva Sans Bold"/>
                <a:cs typeface="Canva Sans Bold"/>
                <a:sym typeface="Canva Sans Bold"/>
              </a:rPr>
              <a:t>Features and What They Represent</a:t>
            </a:r>
          </a:p>
          <a:p>
            <a:pPr marL="647273" lvl="1" indent="-323636" algn="just">
              <a:lnSpc>
                <a:spcPts val="4197"/>
              </a:lnSpc>
              <a:buAutoNum type="arabicPeriod"/>
            </a:pPr>
            <a:r>
              <a:rPr lang="en-US" sz="2998">
                <a:solidFill>
                  <a:srgbClr val="000000"/>
                </a:solidFill>
                <a:latin typeface="Canva Sans"/>
                <a:ea typeface="Canva Sans"/>
                <a:cs typeface="Canva Sans"/>
                <a:sym typeface="Canva Sans"/>
              </a:rPr>
              <a:t>id: Unique identifier for the image.</a:t>
            </a:r>
          </a:p>
          <a:p>
            <a:pPr marL="647273" lvl="1" indent="-323636" algn="just">
              <a:lnSpc>
                <a:spcPts val="4197"/>
              </a:lnSpc>
              <a:buAutoNum type="arabicPeriod"/>
            </a:pPr>
            <a:r>
              <a:rPr lang="en-US" sz="2998">
                <a:solidFill>
                  <a:srgbClr val="000000"/>
                </a:solidFill>
                <a:latin typeface="Canva Sans"/>
                <a:ea typeface="Canva Sans"/>
                <a:cs typeface="Canva Sans"/>
                <a:sym typeface="Canva Sans"/>
              </a:rPr>
              <a:t>filepath: Path to the image file.</a:t>
            </a:r>
          </a:p>
          <a:p>
            <a:pPr marL="647273" lvl="1" indent="-323636" algn="just">
              <a:lnSpc>
                <a:spcPts val="4197"/>
              </a:lnSpc>
              <a:buAutoNum type="arabicPeriod"/>
            </a:pPr>
            <a:r>
              <a:rPr lang="en-US" sz="2998">
                <a:solidFill>
                  <a:srgbClr val="000000"/>
                </a:solidFill>
                <a:latin typeface="Canva Sans"/>
                <a:ea typeface="Canva Sans"/>
                <a:cs typeface="Canva Sans"/>
                <a:sym typeface="Canva Sans"/>
              </a:rPr>
              <a:t>site: Camera trap location site ID.</a:t>
            </a:r>
          </a:p>
          <a:p>
            <a:pPr marL="647273" lvl="1" indent="-323636" algn="just">
              <a:lnSpc>
                <a:spcPts val="4197"/>
              </a:lnSpc>
              <a:buAutoNum type="arabicPeriod"/>
            </a:pPr>
            <a:r>
              <a:rPr lang="en-US" sz="2998">
                <a:solidFill>
                  <a:srgbClr val="000000"/>
                </a:solidFill>
                <a:latin typeface="Canva Sans"/>
                <a:ea typeface="Canva Sans"/>
                <a:cs typeface="Canva Sans"/>
                <a:sym typeface="Canva Sans"/>
              </a:rPr>
              <a:t>Label Columns (e.g., leopard, bird, hog, etc.): Binary indicators for species presence.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a:off x="14994300" y="3675559"/>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3" name="Freeform 3"/>
          <p:cNvSpPr/>
          <p:nvPr/>
        </p:nvSpPr>
        <p:spPr>
          <a:xfrm>
            <a:off x="-1801378" y="-610072"/>
            <a:ext cx="3299321" cy="4114800"/>
          </a:xfrm>
          <a:custGeom>
            <a:avLst/>
            <a:gdLst/>
            <a:ahLst/>
            <a:cxnLst/>
            <a:rect l="l" t="t" r="r" b="b"/>
            <a:pathLst>
              <a:path w="3299321" h="4114800">
                <a:moveTo>
                  <a:pt x="0" y="0"/>
                </a:moveTo>
                <a:lnTo>
                  <a:pt x="3299321" y="0"/>
                </a:lnTo>
                <a:lnTo>
                  <a:pt x="329932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4" name="TextBox 4"/>
          <p:cNvSpPr txBox="1"/>
          <p:nvPr/>
        </p:nvSpPr>
        <p:spPr>
          <a:xfrm>
            <a:off x="1885579" y="1530513"/>
            <a:ext cx="6285737" cy="795212"/>
          </a:xfrm>
          <a:prstGeom prst="rect">
            <a:avLst/>
          </a:prstGeom>
        </p:spPr>
        <p:txBody>
          <a:bodyPr lIns="0" tIns="0" rIns="0" bIns="0" rtlCol="0" anchor="t">
            <a:spAutoFit/>
          </a:bodyPr>
          <a:lstStyle/>
          <a:p>
            <a:pPr marL="0" lvl="0" indent="0" algn="l">
              <a:lnSpc>
                <a:spcPts val="6569"/>
              </a:lnSpc>
              <a:spcBef>
                <a:spcPct val="0"/>
              </a:spcBef>
            </a:pPr>
            <a:r>
              <a:rPr lang="en-US" sz="4692" b="1" spc="-93">
                <a:solidFill>
                  <a:srgbClr val="191919"/>
                </a:solidFill>
                <a:latin typeface="Open Sauce Bold"/>
                <a:ea typeface="Open Sauce Bold"/>
                <a:cs typeface="Open Sauce Bold"/>
                <a:sym typeface="Open Sauce Bold"/>
              </a:rPr>
              <a:t>Methods</a:t>
            </a:r>
          </a:p>
        </p:txBody>
      </p:sp>
      <p:sp>
        <p:nvSpPr>
          <p:cNvPr id="5" name="TextBox 5"/>
          <p:cNvSpPr txBox="1"/>
          <p:nvPr/>
        </p:nvSpPr>
        <p:spPr>
          <a:xfrm>
            <a:off x="1028700" y="3209067"/>
            <a:ext cx="14754463" cy="4960068"/>
          </a:xfrm>
          <a:prstGeom prst="rect">
            <a:avLst/>
          </a:prstGeom>
        </p:spPr>
        <p:txBody>
          <a:bodyPr lIns="0" tIns="0" rIns="0" bIns="0" rtlCol="0" anchor="t">
            <a:spAutoFit/>
          </a:bodyPr>
          <a:lstStyle/>
          <a:p>
            <a:pPr algn="l">
              <a:lnSpc>
                <a:spcPts val="4365"/>
              </a:lnSpc>
            </a:pPr>
            <a:r>
              <a:rPr lang="en-US" sz="2910">
                <a:solidFill>
                  <a:srgbClr val="191919"/>
                </a:solidFill>
                <a:latin typeface="Open Sauce"/>
                <a:ea typeface="Open Sauce"/>
                <a:cs typeface="Open Sauce"/>
                <a:sym typeface="Open Sauce"/>
              </a:rPr>
              <a:t>To create a multi-label image classification pipeline for camera trap images: </a:t>
            </a:r>
          </a:p>
          <a:p>
            <a:pPr algn="l">
              <a:lnSpc>
                <a:spcPts val="4365"/>
              </a:lnSpc>
            </a:pPr>
            <a:endParaRPr lang="en-US" sz="2910">
              <a:solidFill>
                <a:srgbClr val="191919"/>
              </a:solidFill>
              <a:latin typeface="Open Sauce"/>
              <a:ea typeface="Open Sauce"/>
              <a:cs typeface="Open Sauce"/>
              <a:sym typeface="Open Sauce"/>
            </a:endParaRPr>
          </a:p>
          <a:p>
            <a:pPr marL="628341" lvl="1" indent="-314170" algn="l">
              <a:lnSpc>
                <a:spcPts val="4365"/>
              </a:lnSpc>
              <a:buFont typeface="Arial"/>
              <a:buChar char="•"/>
            </a:pPr>
            <a:r>
              <a:rPr lang="en-US" sz="2910">
                <a:solidFill>
                  <a:srgbClr val="191919"/>
                </a:solidFill>
                <a:latin typeface="Open Sauce"/>
                <a:ea typeface="Open Sauce"/>
                <a:cs typeface="Open Sauce"/>
                <a:sym typeface="Open Sauce"/>
              </a:rPr>
              <a:t>Data was imported, analyzed, and preprocessed.</a:t>
            </a:r>
          </a:p>
          <a:p>
            <a:pPr marL="628341" lvl="1" indent="-314170" algn="l">
              <a:lnSpc>
                <a:spcPts val="4365"/>
              </a:lnSpc>
              <a:buFont typeface="Arial"/>
              <a:buChar char="•"/>
            </a:pPr>
            <a:r>
              <a:rPr lang="en-US" sz="2910">
                <a:solidFill>
                  <a:srgbClr val="191919"/>
                </a:solidFill>
                <a:latin typeface="Open Sauce"/>
                <a:ea typeface="Open Sauce"/>
                <a:cs typeface="Open Sauce"/>
                <a:sym typeface="Open Sauce"/>
              </a:rPr>
              <a:t>Four CNN-based models were trained and evaluated: a Baseline CNN,      MobileNetV2, ResNet50, and a Custom CNN with regularization.</a:t>
            </a:r>
          </a:p>
          <a:p>
            <a:pPr marL="628341" lvl="1" indent="-314170" algn="l">
              <a:lnSpc>
                <a:spcPts val="4365"/>
              </a:lnSpc>
              <a:buFont typeface="Arial"/>
              <a:buChar char="•"/>
            </a:pPr>
            <a:r>
              <a:rPr lang="en-US" sz="2910">
                <a:solidFill>
                  <a:srgbClr val="191919"/>
                </a:solidFill>
                <a:latin typeface="Open Sauce"/>
                <a:ea typeface="Open Sauce"/>
                <a:cs typeface="Open Sauce"/>
                <a:sym typeface="Open Sauce"/>
              </a:rPr>
              <a:t>The baseline CNN was determined to be the best-performing model based on micro and macro ROC-AUC.</a:t>
            </a:r>
          </a:p>
          <a:p>
            <a:pPr marL="0" lvl="0" indent="0" algn="l">
              <a:lnSpc>
                <a:spcPts val="4365"/>
              </a:lnSpc>
            </a:pPr>
            <a:endParaRPr lang="en-US" sz="2910">
              <a:solidFill>
                <a:srgbClr val="191919"/>
              </a:solidFill>
              <a:latin typeface="Open Sauce"/>
              <a:ea typeface="Open Sauce"/>
              <a:cs typeface="Open Sauce"/>
              <a:sym typeface="Open Sauce"/>
            </a:endParaRPr>
          </a:p>
          <a:p>
            <a:pPr marL="0" lvl="0" indent="0" algn="l">
              <a:lnSpc>
                <a:spcPts val="4365"/>
              </a:lnSpc>
            </a:pPr>
            <a:endParaRPr lang="en-US" sz="2910">
              <a:solidFill>
                <a:srgbClr val="191919"/>
              </a:solidFill>
              <a:latin typeface="Open Sauce"/>
              <a:ea typeface="Open Sauce"/>
              <a:cs typeface="Open Sauce"/>
              <a:sym typeface="Open Sauc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7086275"/>
            <a:ext cx="3377219" cy="3377219"/>
          </a:xfrm>
          <a:custGeom>
            <a:avLst/>
            <a:gdLst/>
            <a:ahLst/>
            <a:cxnLst/>
            <a:rect l="l" t="t" r="r" b="b"/>
            <a:pathLst>
              <a:path w="3377219" h="3377219">
                <a:moveTo>
                  <a:pt x="0" y="3377219"/>
                </a:moveTo>
                <a:lnTo>
                  <a:pt x="3377219" y="3377219"/>
                </a:lnTo>
                <a:lnTo>
                  <a:pt x="3377219" y="0"/>
                </a:lnTo>
                <a:lnTo>
                  <a:pt x="0" y="0"/>
                </a:lnTo>
                <a:lnTo>
                  <a:pt x="0" y="3377219"/>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3" name="Group 3"/>
          <p:cNvGrpSpPr/>
          <p:nvPr/>
        </p:nvGrpSpPr>
        <p:grpSpPr>
          <a:xfrm>
            <a:off x="15687088" y="-1781387"/>
            <a:ext cx="4201427" cy="420142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6" name="TextBox 6"/>
          <p:cNvSpPr txBox="1"/>
          <p:nvPr/>
        </p:nvSpPr>
        <p:spPr>
          <a:xfrm>
            <a:off x="476069" y="1972688"/>
            <a:ext cx="14600650" cy="2216611"/>
          </a:xfrm>
          <a:prstGeom prst="rect">
            <a:avLst/>
          </a:prstGeom>
        </p:spPr>
        <p:txBody>
          <a:bodyPr lIns="0" tIns="0" rIns="0" bIns="0" rtlCol="0" anchor="t">
            <a:spAutoFit/>
          </a:bodyPr>
          <a:lstStyle/>
          <a:p>
            <a:pPr algn="l">
              <a:lnSpc>
                <a:spcPts val="4460"/>
              </a:lnSpc>
            </a:pPr>
            <a:r>
              <a:rPr lang="en-US" sz="3186" b="1">
                <a:solidFill>
                  <a:srgbClr val="000000"/>
                </a:solidFill>
                <a:latin typeface="Canva Sans Bold"/>
                <a:ea typeface="Canva Sans Bold"/>
                <a:cs typeface="Canva Sans Bold"/>
                <a:sym typeface="Canva Sans Bold"/>
              </a:rPr>
              <a:t>Micro ROC-AUC:</a:t>
            </a:r>
            <a:r>
              <a:rPr lang="en-US" sz="3186">
                <a:solidFill>
                  <a:srgbClr val="000000"/>
                </a:solidFill>
                <a:latin typeface="Canva Sans"/>
                <a:ea typeface="Canva Sans"/>
                <a:cs typeface="Canva Sans"/>
                <a:sym typeface="Canva Sans"/>
              </a:rPr>
              <a:t> Best for imbalanced multi-label problems. Higher = better.</a:t>
            </a:r>
          </a:p>
          <a:p>
            <a:pPr algn="l">
              <a:lnSpc>
                <a:spcPts val="4460"/>
              </a:lnSpc>
            </a:pPr>
            <a:r>
              <a:rPr lang="en-US" sz="3186" b="1">
                <a:solidFill>
                  <a:srgbClr val="000000"/>
                </a:solidFill>
                <a:latin typeface="Canva Sans Bold"/>
                <a:ea typeface="Canva Sans Bold"/>
                <a:cs typeface="Canva Sans Bold"/>
                <a:sym typeface="Canva Sans Bold"/>
              </a:rPr>
              <a:t>Macro ROC-AUC:</a:t>
            </a:r>
            <a:r>
              <a:rPr lang="en-US" sz="3186">
                <a:solidFill>
                  <a:srgbClr val="000000"/>
                </a:solidFill>
                <a:latin typeface="Canva Sans"/>
                <a:ea typeface="Canva Sans"/>
                <a:cs typeface="Canva Sans"/>
                <a:sym typeface="Canva Sans"/>
              </a:rPr>
              <a:t> Averages performance per label, regardless of frequency.</a:t>
            </a:r>
          </a:p>
          <a:p>
            <a:pPr algn="l">
              <a:lnSpc>
                <a:spcPts val="4460"/>
              </a:lnSpc>
            </a:pPr>
            <a:r>
              <a:rPr lang="en-US" sz="3186" b="1">
                <a:solidFill>
                  <a:srgbClr val="000000"/>
                </a:solidFill>
                <a:latin typeface="Canva Sans Bold"/>
                <a:ea typeface="Canva Sans Bold"/>
                <a:cs typeface="Canva Sans Bold"/>
                <a:sym typeface="Canva Sans Bold"/>
              </a:rPr>
              <a:t>Exact Match: </a:t>
            </a:r>
            <a:r>
              <a:rPr lang="en-US" sz="3186">
                <a:solidFill>
                  <a:srgbClr val="000000"/>
                </a:solidFill>
                <a:latin typeface="Canva Sans"/>
                <a:ea typeface="Canva Sans"/>
                <a:cs typeface="Canva Sans"/>
                <a:sym typeface="Canva Sans"/>
              </a:rPr>
              <a:t>Strict metric; must get all labels correct.</a:t>
            </a:r>
          </a:p>
          <a:p>
            <a:pPr algn="ctr">
              <a:lnSpc>
                <a:spcPts val="4460"/>
              </a:lnSpc>
            </a:pPr>
            <a:endParaRPr lang="en-US" sz="3186">
              <a:solidFill>
                <a:srgbClr val="000000"/>
              </a:solidFill>
              <a:latin typeface="Canva Sans"/>
              <a:ea typeface="Canva Sans"/>
              <a:cs typeface="Canva Sans"/>
              <a:sym typeface="Canva Sans"/>
            </a:endParaRPr>
          </a:p>
        </p:txBody>
      </p:sp>
      <p:graphicFrame>
        <p:nvGraphicFramePr>
          <p:cNvPr id="7" name="Table 7"/>
          <p:cNvGraphicFramePr>
            <a:graphicFrameLocks noGrp="1"/>
          </p:cNvGraphicFramePr>
          <p:nvPr/>
        </p:nvGraphicFramePr>
        <p:xfrm>
          <a:off x="5980252" y="4474354"/>
          <a:ext cx="10222402" cy="5223843"/>
        </p:xfrm>
        <a:graphic>
          <a:graphicData uri="http://schemas.openxmlformats.org/drawingml/2006/table">
            <a:tbl>
              <a:tblPr/>
              <a:tblGrid>
                <a:gridCol w="2555600">
                  <a:extLst>
                    <a:ext uri="{9D8B030D-6E8A-4147-A177-3AD203B41FA5}">
                      <a16:colId xmlns:a16="http://schemas.microsoft.com/office/drawing/2014/main" val="20000"/>
                    </a:ext>
                  </a:extLst>
                </a:gridCol>
                <a:gridCol w="2555600">
                  <a:extLst>
                    <a:ext uri="{9D8B030D-6E8A-4147-A177-3AD203B41FA5}">
                      <a16:colId xmlns:a16="http://schemas.microsoft.com/office/drawing/2014/main" val="20001"/>
                    </a:ext>
                  </a:extLst>
                </a:gridCol>
                <a:gridCol w="2555600">
                  <a:extLst>
                    <a:ext uri="{9D8B030D-6E8A-4147-A177-3AD203B41FA5}">
                      <a16:colId xmlns:a16="http://schemas.microsoft.com/office/drawing/2014/main" val="20002"/>
                    </a:ext>
                  </a:extLst>
                </a:gridCol>
                <a:gridCol w="2555600">
                  <a:extLst>
                    <a:ext uri="{9D8B030D-6E8A-4147-A177-3AD203B41FA5}">
                      <a16:colId xmlns:a16="http://schemas.microsoft.com/office/drawing/2014/main" val="20003"/>
                    </a:ext>
                  </a:extLst>
                </a:gridCol>
              </a:tblGrid>
              <a:tr h="1385693">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Model</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57150"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Micro ROC-AUC</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57150"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Macro ROC-AUC</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57150"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Exact Match</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57150" cap="flat" cmpd="sng" algn="ctr">
                      <a:solidFill>
                        <a:srgbClr val="2C7E81"/>
                      </a:solidFill>
                      <a:prstDash val="solid"/>
                      <a:round/>
                      <a:headEnd type="none" w="med" len="med"/>
                      <a:tailEnd type="none" w="med" len="med"/>
                    </a:lnB>
                  </a:tcPr>
                </a:tc>
                <a:extLst>
                  <a:ext uri="{0D108BD9-81ED-4DB2-BD59-A6C34878D82A}">
                    <a16:rowId xmlns:a16="http://schemas.microsoft.com/office/drawing/2014/main" val="10000"/>
                  </a:ext>
                </a:extLst>
              </a:tr>
              <a:tr h="978783">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Baseline CNN</a:t>
                      </a:r>
                      <a:endParaRPr lang="en-US" sz="1100"/>
                    </a:p>
                  </a:txBody>
                  <a:tcPr marL="190500" marR="190500" marT="190500" marB="190500" anchor="ctr">
                    <a:lnL w="57150" cap="flat" cmpd="sng" algn="ctr">
                      <a:solidFill>
                        <a:srgbClr val="2C7E81"/>
                      </a:solidFill>
                      <a:prstDash val="solid"/>
                      <a:round/>
                      <a:headEnd type="none" w="med" len="med"/>
                      <a:tailEnd type="none" w="med" len="med"/>
                    </a:lnL>
                    <a:lnR w="57150" cap="flat" cmpd="sng" algn="ctr">
                      <a:solidFill>
                        <a:srgbClr val="2C7E81"/>
                      </a:solidFill>
                      <a:prstDash val="solid"/>
                      <a:round/>
                      <a:headEnd type="none" w="med" len="med"/>
                      <a:tailEnd type="none" w="med" len="med"/>
                    </a:lnR>
                    <a:lnT w="57150" cap="flat" cmpd="sng" algn="ctr">
                      <a:solidFill>
                        <a:srgbClr val="2C7E81"/>
                      </a:solidFill>
                      <a:prstDash val="solid"/>
                      <a:round/>
                      <a:headEnd type="none" w="med" len="med"/>
                      <a:tailEnd type="none" w="med" len="med"/>
                    </a:lnT>
                    <a:lnB w="57150" cap="flat" cmpd="sng" algn="ctr">
                      <a:solidFill>
                        <a:srgbClr val="2C7E81"/>
                      </a:solidFill>
                      <a:prstDash val="solid"/>
                      <a:round/>
                      <a:headEnd type="none" w="med" len="med"/>
                      <a:tailEnd type="none" w="med" len="med"/>
                    </a:lnB>
                    <a:solidFill>
                      <a:srgbClr val="CEEAEB">
                        <a:alpha val="76863"/>
                      </a:srgbClr>
                    </a:solidFill>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0.5188</a:t>
                      </a:r>
                      <a:endParaRPr lang="en-US" sz="1100"/>
                    </a:p>
                  </a:txBody>
                  <a:tcPr marL="190500" marR="190500" marT="190500" marB="190500" anchor="ctr">
                    <a:lnL w="57150" cap="flat" cmpd="sng" algn="ctr">
                      <a:solidFill>
                        <a:srgbClr val="2C7E81"/>
                      </a:solidFill>
                      <a:prstDash val="solid"/>
                      <a:round/>
                      <a:headEnd type="none" w="med" len="med"/>
                      <a:tailEnd type="none" w="med" len="med"/>
                    </a:lnL>
                    <a:lnR w="57150" cap="flat" cmpd="sng" algn="ctr">
                      <a:solidFill>
                        <a:srgbClr val="2C7E81"/>
                      </a:solidFill>
                      <a:prstDash val="solid"/>
                      <a:round/>
                      <a:headEnd type="none" w="med" len="med"/>
                      <a:tailEnd type="none" w="med" len="med"/>
                    </a:lnR>
                    <a:lnT w="57150" cap="flat" cmpd="sng" algn="ctr">
                      <a:solidFill>
                        <a:srgbClr val="2C7E81"/>
                      </a:solidFill>
                      <a:prstDash val="solid"/>
                      <a:round/>
                      <a:headEnd type="none" w="med" len="med"/>
                      <a:tailEnd type="none" w="med" len="med"/>
                    </a:lnT>
                    <a:lnB w="57150" cap="flat" cmpd="sng" algn="ctr">
                      <a:solidFill>
                        <a:srgbClr val="2C7E81"/>
                      </a:solidFill>
                      <a:prstDash val="solid"/>
                      <a:round/>
                      <a:headEnd type="none" w="med" len="med"/>
                      <a:tailEnd type="none" w="med" len="med"/>
                    </a:lnB>
                    <a:solidFill>
                      <a:srgbClr val="CEEAEB">
                        <a:alpha val="76863"/>
                      </a:srgbClr>
                    </a:solidFill>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0.4964</a:t>
                      </a:r>
                      <a:endParaRPr lang="en-US" sz="1100"/>
                    </a:p>
                  </a:txBody>
                  <a:tcPr marL="190500" marR="190500" marT="190500" marB="190500" anchor="ctr">
                    <a:lnL w="57150" cap="flat" cmpd="sng" algn="ctr">
                      <a:solidFill>
                        <a:srgbClr val="2C7E81"/>
                      </a:solidFill>
                      <a:prstDash val="solid"/>
                      <a:round/>
                      <a:headEnd type="none" w="med" len="med"/>
                      <a:tailEnd type="none" w="med" len="med"/>
                    </a:lnL>
                    <a:lnR w="57150" cap="flat" cmpd="sng" algn="ctr">
                      <a:solidFill>
                        <a:srgbClr val="2C7E81"/>
                      </a:solidFill>
                      <a:prstDash val="solid"/>
                      <a:round/>
                      <a:headEnd type="none" w="med" len="med"/>
                      <a:tailEnd type="none" w="med" len="med"/>
                    </a:lnR>
                    <a:lnT w="57150" cap="flat" cmpd="sng" algn="ctr">
                      <a:solidFill>
                        <a:srgbClr val="2C7E81"/>
                      </a:solidFill>
                      <a:prstDash val="solid"/>
                      <a:round/>
                      <a:headEnd type="none" w="med" len="med"/>
                      <a:tailEnd type="none" w="med" len="med"/>
                    </a:lnT>
                    <a:lnB w="57150" cap="flat" cmpd="sng" algn="ctr">
                      <a:solidFill>
                        <a:srgbClr val="2C7E81"/>
                      </a:solidFill>
                      <a:prstDash val="solid"/>
                      <a:round/>
                      <a:headEnd type="none" w="med" len="med"/>
                      <a:tailEnd type="none" w="med" len="med"/>
                    </a:lnB>
                    <a:solidFill>
                      <a:srgbClr val="CEEAEB">
                        <a:alpha val="76863"/>
                      </a:srgbClr>
                    </a:solidFill>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0.1028</a:t>
                      </a:r>
                      <a:endParaRPr lang="en-US" sz="1100"/>
                    </a:p>
                  </a:txBody>
                  <a:tcPr marL="190500" marR="190500" marT="190500" marB="190500" anchor="ctr">
                    <a:lnL w="57150" cap="flat" cmpd="sng" algn="ctr">
                      <a:solidFill>
                        <a:srgbClr val="2C7E81"/>
                      </a:solidFill>
                      <a:prstDash val="solid"/>
                      <a:round/>
                      <a:headEnd type="none" w="med" len="med"/>
                      <a:tailEnd type="none" w="med" len="med"/>
                    </a:lnL>
                    <a:lnR w="57150" cap="flat" cmpd="sng" algn="ctr">
                      <a:solidFill>
                        <a:srgbClr val="2C7E81"/>
                      </a:solidFill>
                      <a:prstDash val="solid"/>
                      <a:round/>
                      <a:headEnd type="none" w="med" len="med"/>
                      <a:tailEnd type="none" w="med" len="med"/>
                    </a:lnR>
                    <a:lnT w="57150" cap="flat" cmpd="sng" algn="ctr">
                      <a:solidFill>
                        <a:srgbClr val="2C7E81"/>
                      </a:solidFill>
                      <a:prstDash val="solid"/>
                      <a:round/>
                      <a:headEnd type="none" w="med" len="med"/>
                      <a:tailEnd type="none" w="med" len="med"/>
                    </a:lnT>
                    <a:lnB w="57150" cap="flat" cmpd="sng" algn="ctr">
                      <a:solidFill>
                        <a:srgbClr val="2C7E81"/>
                      </a:solidFill>
                      <a:prstDash val="solid"/>
                      <a:round/>
                      <a:headEnd type="none" w="med" len="med"/>
                      <a:tailEnd type="none" w="med" len="med"/>
                    </a:lnB>
                    <a:solidFill>
                      <a:srgbClr val="CEEAEB">
                        <a:alpha val="76863"/>
                      </a:srgbClr>
                    </a:solidFill>
                  </a:tcPr>
                </a:tc>
                <a:extLst>
                  <a:ext uri="{0D108BD9-81ED-4DB2-BD59-A6C34878D82A}">
                    <a16:rowId xmlns:a16="http://schemas.microsoft.com/office/drawing/2014/main" val="10001"/>
                  </a:ext>
                </a:extLst>
              </a:tr>
              <a:tr h="967786">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MobileNetV2</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57150"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0.5127</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57150"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0.5054</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57150"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0.1025</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57150"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extLst>
                  <a:ext uri="{0D108BD9-81ED-4DB2-BD59-A6C34878D82A}">
                    <a16:rowId xmlns:a16="http://schemas.microsoft.com/office/drawing/2014/main" val="10002"/>
                  </a:ext>
                </a:extLst>
              </a:tr>
              <a:tr h="945790">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ResNet50</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0.5160</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0.4982</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0.0106</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extLst>
                  <a:ext uri="{0D108BD9-81ED-4DB2-BD59-A6C34878D82A}">
                    <a16:rowId xmlns:a16="http://schemas.microsoft.com/office/drawing/2014/main" val="10003"/>
                  </a:ext>
                </a:extLst>
              </a:tr>
              <a:tr h="945790">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Custom CNN</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0.4878</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0.4940</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tc>
                  <a:txBody>
                    <a:bodyPr/>
                    <a:lstStyle/>
                    <a:p>
                      <a:pPr algn="ctr">
                        <a:lnSpc>
                          <a:spcPts val="2896"/>
                        </a:lnSpc>
                        <a:defRPr/>
                      </a:pPr>
                      <a:r>
                        <a:rPr lang="en-US" sz="2068">
                          <a:solidFill>
                            <a:srgbClr val="000000">
                              <a:alpha val="76863"/>
                            </a:srgbClr>
                          </a:solidFill>
                          <a:latin typeface="Montserrat"/>
                          <a:ea typeface="Montserrat"/>
                          <a:cs typeface="Montserrat"/>
                          <a:sym typeface="Montserrat"/>
                        </a:rPr>
                        <a:t>0.0513</a:t>
                      </a:r>
                      <a:endParaRPr lang="en-US" sz="1100"/>
                    </a:p>
                  </a:txBody>
                  <a:tcPr marL="190500" marR="190500" marT="190500" marB="190500" anchor="ctr">
                    <a:lnL w="28575" cap="flat" cmpd="sng" algn="ctr">
                      <a:solidFill>
                        <a:srgbClr val="2C7E81"/>
                      </a:solidFill>
                      <a:prstDash val="solid"/>
                      <a:round/>
                      <a:headEnd type="none" w="med" len="med"/>
                      <a:tailEnd type="none" w="med" len="med"/>
                    </a:lnL>
                    <a:lnR w="28575" cap="flat" cmpd="sng" algn="ctr">
                      <a:solidFill>
                        <a:srgbClr val="2C7E81"/>
                      </a:solidFill>
                      <a:prstDash val="solid"/>
                      <a:round/>
                      <a:headEnd type="none" w="med" len="med"/>
                      <a:tailEnd type="none" w="med" len="med"/>
                    </a:lnR>
                    <a:lnT w="28575" cap="flat" cmpd="sng" algn="ctr">
                      <a:solidFill>
                        <a:srgbClr val="2C7E81"/>
                      </a:solidFill>
                      <a:prstDash val="solid"/>
                      <a:round/>
                      <a:headEnd type="none" w="med" len="med"/>
                      <a:tailEnd type="none" w="med" len="med"/>
                    </a:lnT>
                    <a:lnB w="28575" cap="flat" cmpd="sng" algn="ctr">
                      <a:solidFill>
                        <a:srgbClr val="2C7E8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Box 8"/>
          <p:cNvSpPr txBox="1"/>
          <p:nvPr/>
        </p:nvSpPr>
        <p:spPr>
          <a:xfrm>
            <a:off x="1028700" y="537527"/>
            <a:ext cx="6024801"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Evaluation Metrics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738989" y="2236761"/>
          <a:ext cx="15033653" cy="6782546"/>
        </p:xfrm>
        <a:graphic>
          <a:graphicData uri="http://schemas.openxmlformats.org/drawingml/2006/table">
            <a:tbl>
              <a:tblPr/>
              <a:tblGrid>
                <a:gridCol w="2717144">
                  <a:extLst>
                    <a:ext uri="{9D8B030D-6E8A-4147-A177-3AD203B41FA5}">
                      <a16:colId xmlns:a16="http://schemas.microsoft.com/office/drawing/2014/main" val="20000"/>
                    </a:ext>
                  </a:extLst>
                </a:gridCol>
                <a:gridCol w="2183217">
                  <a:extLst>
                    <a:ext uri="{9D8B030D-6E8A-4147-A177-3AD203B41FA5}">
                      <a16:colId xmlns:a16="http://schemas.microsoft.com/office/drawing/2014/main" val="20001"/>
                    </a:ext>
                  </a:extLst>
                </a:gridCol>
                <a:gridCol w="10133293">
                  <a:extLst>
                    <a:ext uri="{9D8B030D-6E8A-4147-A177-3AD203B41FA5}">
                      <a16:colId xmlns:a16="http://schemas.microsoft.com/office/drawing/2014/main" val="20002"/>
                    </a:ext>
                  </a:extLst>
                </a:gridCol>
              </a:tblGrid>
              <a:tr h="1472861">
                <a:tc>
                  <a:txBody>
                    <a:bodyPr/>
                    <a:lstStyle/>
                    <a:p>
                      <a:pPr algn="ctr">
                        <a:lnSpc>
                          <a:spcPts val="3639"/>
                        </a:lnSpc>
                        <a:defRPr/>
                      </a:pPr>
                      <a:r>
                        <a:rPr lang="en-US" sz="2599" b="1">
                          <a:solidFill>
                            <a:srgbClr val="000000"/>
                          </a:solidFill>
                          <a:latin typeface="Montserrat Bold"/>
                          <a:ea typeface="Montserrat Bold"/>
                          <a:cs typeface="Montserrat Bold"/>
                          <a:sym typeface="Montserrat Bold"/>
                        </a:rPr>
                        <a:t>Model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2C7E81"/>
                    </a:solidFill>
                  </a:tcPr>
                </a:tc>
                <a:tc>
                  <a:txBody>
                    <a:bodyPr/>
                    <a:lstStyle/>
                    <a:p>
                      <a:pPr algn="ctr">
                        <a:lnSpc>
                          <a:spcPts val="2659"/>
                        </a:lnSpc>
                        <a:defRPr/>
                      </a:pPr>
                      <a:r>
                        <a:rPr lang="en-US" sz="1899" b="1">
                          <a:solidFill>
                            <a:srgbClr val="000000"/>
                          </a:solidFill>
                          <a:latin typeface="Montserrat Bold"/>
                          <a:ea typeface="Montserrat Bold"/>
                          <a:cs typeface="Montserrat Bold"/>
                          <a:sym typeface="Montserrat Bold"/>
                        </a:rPr>
                        <a:t>Final Value Accuracy</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2C7E81"/>
                    </a:solidFill>
                  </a:tcPr>
                </a:tc>
                <a:tc>
                  <a:txBody>
                    <a:bodyPr/>
                    <a:lstStyle/>
                    <a:p>
                      <a:pPr algn="ctr">
                        <a:lnSpc>
                          <a:spcPts val="3779"/>
                        </a:lnSpc>
                        <a:defRPr/>
                      </a:pPr>
                      <a:r>
                        <a:rPr lang="en-US" sz="2699" b="1">
                          <a:solidFill>
                            <a:srgbClr val="000000"/>
                          </a:solidFill>
                          <a:latin typeface="Montserrat Bold"/>
                          <a:ea typeface="Montserrat Bold"/>
                          <a:cs typeface="Montserrat Bold"/>
                          <a:sym typeface="Montserrat Bold"/>
                        </a:rPr>
                        <a:t>Intepretation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2C7E81"/>
                    </a:solidFill>
                  </a:tcPr>
                </a:tc>
                <a:extLst>
                  <a:ext uri="{0D108BD9-81ED-4DB2-BD59-A6C34878D82A}">
                    <a16:rowId xmlns:a16="http://schemas.microsoft.com/office/drawing/2014/main" val="10000"/>
                  </a:ext>
                </a:extLst>
              </a:tr>
              <a:tr h="1220926">
                <a:tc>
                  <a:txBody>
                    <a:bodyPr/>
                    <a:lstStyle/>
                    <a:p>
                      <a:pPr algn="ctr">
                        <a:lnSpc>
                          <a:spcPts val="3219"/>
                        </a:lnSpc>
                        <a:defRPr/>
                      </a:pPr>
                      <a:r>
                        <a:rPr lang="en-US" sz="2299">
                          <a:solidFill>
                            <a:srgbClr val="000000"/>
                          </a:solidFill>
                          <a:latin typeface="Montserrat"/>
                          <a:ea typeface="Montserrat"/>
                          <a:cs typeface="Montserrat"/>
                          <a:sym typeface="Montserrat"/>
                        </a:rPr>
                        <a:t>Baseline CNN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C8CA"/>
                    </a:solidFill>
                  </a:tcPr>
                </a:tc>
                <a:tc>
                  <a:txBody>
                    <a:bodyPr/>
                    <a:lstStyle/>
                    <a:p>
                      <a:pPr algn="ctr">
                        <a:lnSpc>
                          <a:spcPts val="3359"/>
                        </a:lnSpc>
                        <a:defRPr/>
                      </a:pPr>
                      <a:r>
                        <a:rPr lang="en-US" sz="2399">
                          <a:solidFill>
                            <a:srgbClr val="000000"/>
                          </a:solidFill>
                          <a:latin typeface="Montserrat"/>
                          <a:ea typeface="Montserrat"/>
                          <a:cs typeface="Montserrat"/>
                          <a:sym typeface="Montserrat"/>
                        </a:rPr>
                        <a:t>82.4%</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FE9EA"/>
                    </a:solidFill>
                  </a:tcPr>
                </a:tc>
                <a:tc>
                  <a:txBody>
                    <a:bodyPr/>
                    <a:lstStyle/>
                    <a:p>
                      <a:pPr algn="ctr">
                        <a:lnSpc>
                          <a:spcPts val="3219"/>
                        </a:lnSpc>
                        <a:defRPr/>
                      </a:pPr>
                      <a:r>
                        <a:rPr lang="en-US" sz="2299">
                          <a:solidFill>
                            <a:srgbClr val="000000"/>
                          </a:solidFill>
                          <a:latin typeface="Montserrat"/>
                          <a:ea typeface="Montserrat"/>
                          <a:cs typeface="Montserrat"/>
                          <a:sym typeface="Montserrat"/>
                        </a:rPr>
                        <a:t>Very strong for a simple model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FE9EA"/>
                    </a:solidFill>
                  </a:tcPr>
                </a:tc>
                <a:extLst>
                  <a:ext uri="{0D108BD9-81ED-4DB2-BD59-A6C34878D82A}">
                    <a16:rowId xmlns:a16="http://schemas.microsoft.com/office/drawing/2014/main" val="10001"/>
                  </a:ext>
                </a:extLst>
              </a:tr>
              <a:tr h="1346894">
                <a:tc>
                  <a:txBody>
                    <a:bodyPr/>
                    <a:lstStyle/>
                    <a:p>
                      <a:pPr algn="ctr">
                        <a:lnSpc>
                          <a:spcPts val="3219"/>
                        </a:lnSpc>
                        <a:defRPr/>
                      </a:pPr>
                      <a:r>
                        <a:rPr lang="en-US" sz="2299">
                          <a:solidFill>
                            <a:srgbClr val="000000"/>
                          </a:solidFill>
                          <a:latin typeface="Montserrat"/>
                          <a:ea typeface="Montserrat"/>
                          <a:cs typeface="Montserrat"/>
                          <a:sym typeface="Montserrat"/>
                        </a:rPr>
                        <a:t>MobileNetV2</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C8CA"/>
                    </a:solidFill>
                  </a:tcPr>
                </a:tc>
                <a:tc>
                  <a:txBody>
                    <a:bodyPr/>
                    <a:lstStyle/>
                    <a:p>
                      <a:pPr algn="ctr">
                        <a:lnSpc>
                          <a:spcPts val="3359"/>
                        </a:lnSpc>
                        <a:defRPr/>
                      </a:pPr>
                      <a:r>
                        <a:rPr lang="en-US" sz="2399">
                          <a:solidFill>
                            <a:srgbClr val="000000"/>
                          </a:solidFill>
                          <a:latin typeface="Montserrat"/>
                          <a:ea typeface="Montserrat"/>
                          <a:cs typeface="Montserrat"/>
                          <a:sym typeface="Montserrat"/>
                        </a:rPr>
                        <a:t>76.7%</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FE9EA"/>
                    </a:solidFill>
                  </a:tcPr>
                </a:tc>
                <a:tc>
                  <a:txBody>
                    <a:bodyPr/>
                    <a:lstStyle/>
                    <a:p>
                      <a:pPr algn="l">
                        <a:lnSpc>
                          <a:spcPts val="3219"/>
                        </a:lnSpc>
                        <a:defRPr/>
                      </a:pPr>
                      <a:r>
                        <a:rPr lang="en-US" sz="2299">
                          <a:solidFill>
                            <a:srgbClr val="212121"/>
                          </a:solidFill>
                          <a:latin typeface="Montserrat"/>
                          <a:ea typeface="Montserrat"/>
                          <a:cs typeface="Montserrat"/>
                          <a:sym typeface="Montserrat"/>
                        </a:rPr>
                        <a:t>Good performance, fast inference, but slightly below Baseline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FE9EA"/>
                    </a:solidFill>
                  </a:tcPr>
                </a:tc>
                <a:extLst>
                  <a:ext uri="{0D108BD9-81ED-4DB2-BD59-A6C34878D82A}">
                    <a16:rowId xmlns:a16="http://schemas.microsoft.com/office/drawing/2014/main" val="10002"/>
                  </a:ext>
                </a:extLst>
              </a:tr>
              <a:tr h="1346894">
                <a:tc>
                  <a:txBody>
                    <a:bodyPr/>
                    <a:lstStyle/>
                    <a:p>
                      <a:pPr algn="ctr">
                        <a:lnSpc>
                          <a:spcPts val="3219"/>
                        </a:lnSpc>
                        <a:defRPr/>
                      </a:pPr>
                      <a:r>
                        <a:rPr lang="en-US" sz="2299">
                          <a:solidFill>
                            <a:srgbClr val="000000"/>
                          </a:solidFill>
                          <a:latin typeface="Montserrat"/>
                          <a:ea typeface="Montserrat"/>
                          <a:cs typeface="Montserrat"/>
                          <a:sym typeface="Montserrat"/>
                        </a:rPr>
                        <a:t>ResNet50</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C8CA"/>
                    </a:solidFill>
                  </a:tcPr>
                </a:tc>
                <a:tc>
                  <a:txBody>
                    <a:bodyPr/>
                    <a:lstStyle/>
                    <a:p>
                      <a:pPr algn="ctr">
                        <a:lnSpc>
                          <a:spcPts val="3359"/>
                        </a:lnSpc>
                        <a:defRPr/>
                      </a:pPr>
                      <a:r>
                        <a:rPr lang="en-US" sz="2399">
                          <a:solidFill>
                            <a:srgbClr val="000000"/>
                          </a:solidFill>
                          <a:latin typeface="Montserrat"/>
                          <a:ea typeface="Montserrat"/>
                          <a:cs typeface="Montserrat"/>
                          <a:sym typeface="Montserrat"/>
                        </a:rPr>
                        <a:t>33.5%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FE9EA"/>
                    </a:solidFill>
                  </a:tcPr>
                </a:tc>
                <a:tc>
                  <a:txBody>
                    <a:bodyPr/>
                    <a:lstStyle/>
                    <a:p>
                      <a:pPr algn="ctr">
                        <a:lnSpc>
                          <a:spcPts val="3219"/>
                        </a:lnSpc>
                        <a:defRPr/>
                      </a:pPr>
                      <a:r>
                        <a:rPr lang="en-US" sz="2299">
                          <a:solidFill>
                            <a:srgbClr val="000000"/>
                          </a:solidFill>
                          <a:latin typeface="Montserrat"/>
                          <a:ea typeface="Montserrat"/>
                          <a:cs typeface="Montserrat"/>
                          <a:sym typeface="Montserrat"/>
                        </a:rPr>
                        <a:t>Likely underfitting or not well fine-tuned</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FE9EA"/>
                    </a:solidFill>
                  </a:tcPr>
                </a:tc>
                <a:extLst>
                  <a:ext uri="{0D108BD9-81ED-4DB2-BD59-A6C34878D82A}">
                    <a16:rowId xmlns:a16="http://schemas.microsoft.com/office/drawing/2014/main" val="10003"/>
                  </a:ext>
                </a:extLst>
              </a:tr>
              <a:tr h="1394971">
                <a:tc>
                  <a:txBody>
                    <a:bodyPr/>
                    <a:lstStyle/>
                    <a:p>
                      <a:pPr algn="ctr">
                        <a:lnSpc>
                          <a:spcPts val="3219"/>
                        </a:lnSpc>
                        <a:defRPr/>
                      </a:pPr>
                      <a:r>
                        <a:rPr lang="en-US" sz="2299">
                          <a:solidFill>
                            <a:srgbClr val="000000"/>
                          </a:solidFill>
                          <a:latin typeface="Montserrat"/>
                          <a:ea typeface="Montserrat"/>
                          <a:cs typeface="Montserrat"/>
                          <a:sym typeface="Montserrat"/>
                        </a:rPr>
                        <a:t>Custom CNN(reg)</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C8CA"/>
                    </a:solidFill>
                  </a:tcPr>
                </a:tc>
                <a:tc>
                  <a:txBody>
                    <a:bodyPr/>
                    <a:lstStyle/>
                    <a:p>
                      <a:pPr algn="ctr">
                        <a:lnSpc>
                          <a:spcPts val="3359"/>
                        </a:lnSpc>
                        <a:defRPr/>
                      </a:pPr>
                      <a:r>
                        <a:rPr lang="en-US" sz="2399">
                          <a:solidFill>
                            <a:srgbClr val="000000"/>
                          </a:solidFill>
                          <a:latin typeface="Montserrat"/>
                          <a:ea typeface="Montserrat"/>
                          <a:cs typeface="Montserrat"/>
                          <a:sym typeface="Montserrat"/>
                        </a:rPr>
                        <a:t>35.7%</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FE9EA"/>
                    </a:solidFill>
                  </a:tcPr>
                </a:tc>
                <a:tc>
                  <a:txBody>
                    <a:bodyPr/>
                    <a:lstStyle/>
                    <a:p>
                      <a:pPr algn="ctr">
                        <a:lnSpc>
                          <a:spcPts val="3219"/>
                        </a:lnSpc>
                        <a:defRPr/>
                      </a:pPr>
                      <a:r>
                        <a:rPr lang="en-US" sz="2299">
                          <a:solidFill>
                            <a:srgbClr val="000000"/>
                          </a:solidFill>
                          <a:latin typeface="Montserrat"/>
                          <a:ea typeface="Montserrat"/>
                          <a:cs typeface="Montserrat"/>
                          <a:sym typeface="Montserrat"/>
                        </a:rPr>
                        <a:t>Struggling despite regularization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FE9EA"/>
                    </a:solidFill>
                  </a:tcPr>
                </a:tc>
                <a:extLst>
                  <a:ext uri="{0D108BD9-81ED-4DB2-BD59-A6C34878D82A}">
                    <a16:rowId xmlns:a16="http://schemas.microsoft.com/office/drawing/2014/main" val="10004"/>
                  </a:ext>
                </a:extLst>
              </a:tr>
            </a:tbl>
          </a:graphicData>
        </a:graphic>
      </p:graphicFrame>
      <p:sp>
        <p:nvSpPr>
          <p:cNvPr id="3" name="TextBox 3"/>
          <p:cNvSpPr txBox="1"/>
          <p:nvPr/>
        </p:nvSpPr>
        <p:spPr>
          <a:xfrm>
            <a:off x="1738989" y="537527"/>
            <a:ext cx="4866501"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Value accuracy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TextBox 2"/>
          <p:cNvSpPr txBox="1"/>
          <p:nvPr/>
        </p:nvSpPr>
        <p:spPr>
          <a:xfrm>
            <a:off x="916885" y="1272376"/>
            <a:ext cx="6274156" cy="808613"/>
          </a:xfrm>
          <a:prstGeom prst="rect">
            <a:avLst/>
          </a:prstGeom>
        </p:spPr>
        <p:txBody>
          <a:bodyPr lIns="0" tIns="0" rIns="0" bIns="0" rtlCol="0" anchor="t">
            <a:spAutoFit/>
          </a:bodyPr>
          <a:lstStyle/>
          <a:p>
            <a:pPr marL="0" lvl="0" indent="0" algn="l">
              <a:lnSpc>
                <a:spcPts val="6644"/>
              </a:lnSpc>
              <a:spcBef>
                <a:spcPct val="0"/>
              </a:spcBef>
            </a:pPr>
            <a:r>
              <a:rPr lang="en-US" sz="4746" b="1" spc="-94">
                <a:solidFill>
                  <a:srgbClr val="191919"/>
                </a:solidFill>
                <a:latin typeface="Open Sauce Bold"/>
                <a:ea typeface="Open Sauce Bold"/>
                <a:cs typeface="Open Sauce Bold"/>
                <a:sym typeface="Open Sauce Bold"/>
              </a:rPr>
              <a:t>Recommendations</a:t>
            </a:r>
          </a:p>
        </p:txBody>
      </p:sp>
      <p:sp>
        <p:nvSpPr>
          <p:cNvPr id="3" name="TextBox 3"/>
          <p:cNvSpPr txBox="1"/>
          <p:nvPr/>
        </p:nvSpPr>
        <p:spPr>
          <a:xfrm>
            <a:off x="1295137" y="2778323"/>
            <a:ext cx="15964163" cy="5284895"/>
          </a:xfrm>
          <a:prstGeom prst="rect">
            <a:avLst/>
          </a:prstGeom>
        </p:spPr>
        <p:txBody>
          <a:bodyPr lIns="0" tIns="0" rIns="0" bIns="0" rtlCol="0" anchor="t">
            <a:spAutoFit/>
          </a:bodyPr>
          <a:lstStyle/>
          <a:p>
            <a:pPr marL="678710" lvl="1" indent="-339355" algn="l">
              <a:lnSpc>
                <a:spcPts val="4684"/>
              </a:lnSpc>
              <a:buFont typeface="Arial"/>
              <a:buChar char="•"/>
            </a:pPr>
            <a:r>
              <a:rPr lang="en-US" sz="3143" b="1" spc="50">
                <a:solidFill>
                  <a:srgbClr val="191919"/>
                </a:solidFill>
                <a:latin typeface="Open Sauce Bold"/>
                <a:ea typeface="Open Sauce Bold"/>
                <a:cs typeface="Open Sauce Bold"/>
                <a:sym typeface="Open Sauce Bold"/>
              </a:rPr>
              <a:t>Class Imbalanc</a:t>
            </a:r>
            <a:r>
              <a:rPr lang="en-US" sz="3143" b="1" u="none" strike="noStrike" spc="50">
                <a:solidFill>
                  <a:srgbClr val="191919"/>
                </a:solidFill>
                <a:latin typeface="Open Sauce Bold"/>
                <a:ea typeface="Open Sauce Bold"/>
                <a:cs typeface="Open Sauce Bold"/>
                <a:sym typeface="Open Sauce Bold"/>
              </a:rPr>
              <a:t>e</a:t>
            </a:r>
            <a:r>
              <a:rPr lang="en-US" sz="3143" u="none" strike="noStrike" spc="50">
                <a:solidFill>
                  <a:srgbClr val="191919"/>
                </a:solidFill>
                <a:latin typeface="Open Sauce"/>
                <a:ea typeface="Open Sauce"/>
                <a:cs typeface="Open Sauce"/>
                <a:sym typeface="Open Sauce"/>
              </a:rPr>
              <a:t>: Apply techniques such as class weighting, oversampling rare classes, or using focal loss to improve learning for minority species.</a:t>
            </a:r>
          </a:p>
          <a:p>
            <a:pPr marL="678710" lvl="1" indent="-339355" algn="l">
              <a:lnSpc>
                <a:spcPts val="4684"/>
              </a:lnSpc>
              <a:buFont typeface="Arial"/>
              <a:buChar char="•"/>
            </a:pPr>
            <a:r>
              <a:rPr lang="en-US" sz="3143" b="1" u="none" strike="noStrike" spc="50">
                <a:solidFill>
                  <a:srgbClr val="191919"/>
                </a:solidFill>
                <a:latin typeface="Open Sauce Bold"/>
                <a:ea typeface="Open Sauce Bold"/>
                <a:cs typeface="Open Sauce Bold"/>
                <a:sym typeface="Open Sauce Bold"/>
              </a:rPr>
              <a:t>Label Quality Review</a:t>
            </a:r>
            <a:r>
              <a:rPr lang="en-US" sz="3143" u="none" strike="noStrike" spc="50">
                <a:solidFill>
                  <a:srgbClr val="191919"/>
                </a:solidFill>
                <a:latin typeface="Open Sauce"/>
                <a:ea typeface="Open Sauce"/>
                <a:cs typeface="Open Sauce"/>
                <a:sym typeface="Open Sauce"/>
              </a:rPr>
              <a:t>: Perform manual checks or automated noise reduction techniques to improve the quality of image labels.</a:t>
            </a:r>
          </a:p>
          <a:p>
            <a:pPr marL="678710" lvl="1" indent="-339355" algn="l">
              <a:lnSpc>
                <a:spcPts val="4684"/>
              </a:lnSpc>
              <a:buFont typeface="Arial"/>
              <a:buChar char="•"/>
            </a:pPr>
            <a:r>
              <a:rPr lang="en-US" sz="3143" b="1" u="none" strike="noStrike" spc="50">
                <a:solidFill>
                  <a:srgbClr val="191919"/>
                </a:solidFill>
                <a:latin typeface="Open Sauce Bold"/>
                <a:ea typeface="Open Sauce Bold"/>
                <a:cs typeface="Open Sauce Bold"/>
                <a:sym typeface="Open Sauce Bold"/>
              </a:rPr>
              <a:t>Increase Training Duration</a:t>
            </a:r>
            <a:r>
              <a:rPr lang="en-US" sz="3143" u="none" strike="noStrike" spc="50">
                <a:solidFill>
                  <a:srgbClr val="191919"/>
                </a:solidFill>
                <a:latin typeface="Open Sauce"/>
                <a:ea typeface="Open Sauce"/>
                <a:cs typeface="Open Sauce"/>
                <a:sym typeface="Open Sauce"/>
              </a:rPr>
              <a:t>: Train models for more epochs with early stopping to allow better convergence.</a:t>
            </a:r>
          </a:p>
          <a:p>
            <a:pPr marL="678710" lvl="1" indent="-339355" algn="l">
              <a:lnSpc>
                <a:spcPts val="4684"/>
              </a:lnSpc>
              <a:buFont typeface="Arial"/>
              <a:buChar char="•"/>
            </a:pPr>
            <a:r>
              <a:rPr lang="en-US" sz="3143" b="1" u="none" strike="noStrike" spc="50">
                <a:solidFill>
                  <a:srgbClr val="191919"/>
                </a:solidFill>
                <a:latin typeface="Open Sauce Bold"/>
                <a:ea typeface="Open Sauce Bold"/>
                <a:cs typeface="Open Sauce Bold"/>
                <a:sym typeface="Open Sauce Bold"/>
              </a:rPr>
              <a:t>Use Higher Resolution Images</a:t>
            </a:r>
            <a:r>
              <a:rPr lang="en-US" sz="3143" u="none" strike="noStrike" spc="50">
                <a:solidFill>
                  <a:srgbClr val="191919"/>
                </a:solidFill>
                <a:latin typeface="Open Sauce"/>
                <a:ea typeface="Open Sauce"/>
                <a:cs typeface="Open Sauce"/>
                <a:sym typeface="Open Sauce"/>
              </a:rPr>
              <a:t>: Invest in camera traps which are able to capture higher quality images.</a:t>
            </a:r>
          </a:p>
          <a:p>
            <a:pPr marL="0" lvl="0" indent="0" algn="l">
              <a:lnSpc>
                <a:spcPts val="4684"/>
              </a:lnSpc>
            </a:pPr>
            <a:endParaRPr lang="en-US" sz="3143" u="none" strike="noStrike" spc="50">
              <a:solidFill>
                <a:srgbClr val="191919"/>
              </a:solidFill>
              <a:latin typeface="Open Sauce"/>
              <a:ea typeface="Open Sauce"/>
              <a:cs typeface="Open Sauce"/>
              <a:sym typeface="Open Sauc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97137" y="7075637"/>
            <a:ext cx="5578401" cy="557840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5" name="Group 5"/>
          <p:cNvGrpSpPr/>
          <p:nvPr/>
        </p:nvGrpSpPr>
        <p:grpSpPr>
          <a:xfrm>
            <a:off x="3684175" y="7005833"/>
            <a:ext cx="452472" cy="45247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8" name="Group 8"/>
          <p:cNvGrpSpPr/>
          <p:nvPr/>
        </p:nvGrpSpPr>
        <p:grpSpPr>
          <a:xfrm>
            <a:off x="15017929" y="-2533783"/>
            <a:ext cx="5002094" cy="500209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11" name="Freeform 11"/>
          <p:cNvSpPr/>
          <p:nvPr/>
        </p:nvSpPr>
        <p:spPr>
          <a:xfrm rot="-10800000">
            <a:off x="9028187" y="3444554"/>
            <a:ext cx="5128563" cy="381636"/>
          </a:xfrm>
          <a:custGeom>
            <a:avLst/>
            <a:gdLst/>
            <a:ahLst/>
            <a:cxnLst/>
            <a:rect l="l" t="t" r="r" b="b"/>
            <a:pathLst>
              <a:path w="5128563" h="381636">
                <a:moveTo>
                  <a:pt x="0" y="0"/>
                </a:moveTo>
                <a:lnTo>
                  <a:pt x="5128564" y="0"/>
                </a:lnTo>
                <a:lnTo>
                  <a:pt x="5128564" y="381637"/>
                </a:lnTo>
                <a:lnTo>
                  <a:pt x="0" y="381637"/>
                </a:lnTo>
                <a:lnTo>
                  <a:pt x="0" y="0"/>
                </a:lnTo>
                <a:close/>
              </a:path>
            </a:pathLst>
          </a:custGeom>
          <a:blipFill>
            <a:blip r:embed="rId2">
              <a:alphaModFix amt="72000"/>
            </a:blip>
            <a:stretch>
              <a:fillRect b="-286352"/>
            </a:stretch>
          </a:blipFill>
        </p:spPr>
      </p:sp>
      <p:grpSp>
        <p:nvGrpSpPr>
          <p:cNvPr id="12" name="Group 12"/>
          <p:cNvGrpSpPr/>
          <p:nvPr/>
        </p:nvGrpSpPr>
        <p:grpSpPr>
          <a:xfrm>
            <a:off x="8921546" y="1425268"/>
            <a:ext cx="5334876" cy="2086085"/>
            <a:chOff x="0" y="0"/>
            <a:chExt cx="1234628" cy="482774"/>
          </a:xfrm>
        </p:grpSpPr>
        <p:sp>
          <p:nvSpPr>
            <p:cNvPr id="13" name="Freeform 13"/>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106861"/>
              </a:solidFill>
              <a:prstDash val="solid"/>
              <a:round/>
            </a:ln>
          </p:spPr>
        </p:sp>
        <p:sp>
          <p:nvSpPr>
            <p:cNvPr id="14" name="TextBox 14"/>
            <p:cNvSpPr txBox="1"/>
            <p:nvPr/>
          </p:nvSpPr>
          <p:spPr>
            <a:xfrm>
              <a:off x="0" y="-38100"/>
              <a:ext cx="1234628" cy="520874"/>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5" name="Group 15"/>
          <p:cNvGrpSpPr/>
          <p:nvPr/>
        </p:nvGrpSpPr>
        <p:grpSpPr>
          <a:xfrm>
            <a:off x="8307532" y="1878174"/>
            <a:ext cx="1228028" cy="1226514"/>
            <a:chOff x="0" y="0"/>
            <a:chExt cx="323431" cy="323032"/>
          </a:xfrm>
        </p:grpSpPr>
        <p:sp>
          <p:nvSpPr>
            <p:cNvPr id="16" name="Freeform 16"/>
            <p:cNvSpPr/>
            <p:nvPr/>
          </p:nvSpPr>
          <p:spPr>
            <a:xfrm>
              <a:off x="0" y="0"/>
              <a:ext cx="323431" cy="323032"/>
            </a:xfrm>
            <a:custGeom>
              <a:avLst/>
              <a:gdLst/>
              <a:ahLst/>
              <a:cxnLst/>
              <a:rect l="l" t="t" r="r" b="b"/>
              <a:pathLst>
                <a:path w="323431" h="323032">
                  <a:moveTo>
                    <a:pt x="0" y="0"/>
                  </a:moveTo>
                  <a:lnTo>
                    <a:pt x="323431" y="0"/>
                  </a:lnTo>
                  <a:lnTo>
                    <a:pt x="323431" y="323032"/>
                  </a:lnTo>
                  <a:lnTo>
                    <a:pt x="0" y="323032"/>
                  </a:lnTo>
                  <a:close/>
                </a:path>
              </a:pathLst>
            </a:custGeom>
            <a:solidFill>
              <a:srgbClr val="FFFFFF"/>
            </a:solidFill>
          </p:spPr>
        </p:sp>
        <p:sp>
          <p:nvSpPr>
            <p:cNvPr id="17" name="TextBox 17"/>
            <p:cNvSpPr txBox="1"/>
            <p:nvPr/>
          </p:nvSpPr>
          <p:spPr>
            <a:xfrm>
              <a:off x="0" y="-114300"/>
              <a:ext cx="323431" cy="437332"/>
            </a:xfrm>
            <a:prstGeom prst="rect">
              <a:avLst/>
            </a:prstGeom>
          </p:spPr>
          <p:txBody>
            <a:bodyPr lIns="50800" tIns="50800" rIns="50800" bIns="50800" rtlCol="0" anchor="ctr"/>
            <a:lstStyle/>
            <a:p>
              <a:pPr algn="ctr">
                <a:lnSpc>
                  <a:spcPts val="8076"/>
                </a:lnSpc>
              </a:pPr>
              <a:endParaRPr/>
            </a:p>
          </p:txBody>
        </p:sp>
      </p:grpSp>
      <p:sp>
        <p:nvSpPr>
          <p:cNvPr id="18" name="Freeform 18"/>
          <p:cNvSpPr/>
          <p:nvPr/>
        </p:nvSpPr>
        <p:spPr>
          <a:xfrm rot="-10800000">
            <a:off x="9028187" y="5940727"/>
            <a:ext cx="5128563" cy="381636"/>
          </a:xfrm>
          <a:custGeom>
            <a:avLst/>
            <a:gdLst/>
            <a:ahLst/>
            <a:cxnLst/>
            <a:rect l="l" t="t" r="r" b="b"/>
            <a:pathLst>
              <a:path w="5128563" h="381636">
                <a:moveTo>
                  <a:pt x="0" y="0"/>
                </a:moveTo>
                <a:lnTo>
                  <a:pt x="5128564" y="0"/>
                </a:lnTo>
                <a:lnTo>
                  <a:pt x="5128564" y="381637"/>
                </a:lnTo>
                <a:lnTo>
                  <a:pt x="0" y="381637"/>
                </a:lnTo>
                <a:lnTo>
                  <a:pt x="0" y="0"/>
                </a:lnTo>
                <a:close/>
              </a:path>
            </a:pathLst>
          </a:custGeom>
          <a:blipFill>
            <a:blip r:embed="rId2">
              <a:alphaModFix amt="72000"/>
            </a:blip>
            <a:stretch>
              <a:fillRect b="-286352"/>
            </a:stretch>
          </a:blipFill>
        </p:spPr>
      </p:sp>
      <p:grpSp>
        <p:nvGrpSpPr>
          <p:cNvPr id="19" name="Group 19"/>
          <p:cNvGrpSpPr/>
          <p:nvPr/>
        </p:nvGrpSpPr>
        <p:grpSpPr>
          <a:xfrm>
            <a:off x="8921546" y="3921441"/>
            <a:ext cx="5334876" cy="2086085"/>
            <a:chOff x="0" y="0"/>
            <a:chExt cx="1234628" cy="482774"/>
          </a:xfrm>
        </p:grpSpPr>
        <p:sp>
          <p:nvSpPr>
            <p:cNvPr id="20" name="Freeform 20"/>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106861"/>
              </a:solidFill>
              <a:prstDash val="solid"/>
              <a:round/>
            </a:ln>
          </p:spPr>
        </p:sp>
        <p:sp>
          <p:nvSpPr>
            <p:cNvPr id="21" name="TextBox 21"/>
            <p:cNvSpPr txBox="1"/>
            <p:nvPr/>
          </p:nvSpPr>
          <p:spPr>
            <a:xfrm>
              <a:off x="0" y="-38100"/>
              <a:ext cx="1234628" cy="520874"/>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22" name="Group 22"/>
          <p:cNvGrpSpPr/>
          <p:nvPr/>
        </p:nvGrpSpPr>
        <p:grpSpPr>
          <a:xfrm>
            <a:off x="8307532" y="4374347"/>
            <a:ext cx="1228028" cy="1226514"/>
            <a:chOff x="0" y="0"/>
            <a:chExt cx="323431" cy="323032"/>
          </a:xfrm>
        </p:grpSpPr>
        <p:sp>
          <p:nvSpPr>
            <p:cNvPr id="23" name="Freeform 23"/>
            <p:cNvSpPr/>
            <p:nvPr/>
          </p:nvSpPr>
          <p:spPr>
            <a:xfrm>
              <a:off x="0" y="0"/>
              <a:ext cx="323431" cy="323032"/>
            </a:xfrm>
            <a:custGeom>
              <a:avLst/>
              <a:gdLst/>
              <a:ahLst/>
              <a:cxnLst/>
              <a:rect l="l" t="t" r="r" b="b"/>
              <a:pathLst>
                <a:path w="323431" h="323032">
                  <a:moveTo>
                    <a:pt x="0" y="0"/>
                  </a:moveTo>
                  <a:lnTo>
                    <a:pt x="323431" y="0"/>
                  </a:lnTo>
                  <a:lnTo>
                    <a:pt x="323431" y="323032"/>
                  </a:lnTo>
                  <a:lnTo>
                    <a:pt x="0" y="323032"/>
                  </a:lnTo>
                  <a:close/>
                </a:path>
              </a:pathLst>
            </a:custGeom>
            <a:solidFill>
              <a:srgbClr val="FFFFFF"/>
            </a:solidFill>
          </p:spPr>
        </p:sp>
        <p:sp>
          <p:nvSpPr>
            <p:cNvPr id="24" name="TextBox 24"/>
            <p:cNvSpPr txBox="1"/>
            <p:nvPr/>
          </p:nvSpPr>
          <p:spPr>
            <a:xfrm>
              <a:off x="0" y="-114300"/>
              <a:ext cx="323431" cy="437332"/>
            </a:xfrm>
            <a:prstGeom prst="rect">
              <a:avLst/>
            </a:prstGeom>
          </p:spPr>
          <p:txBody>
            <a:bodyPr lIns="50800" tIns="50800" rIns="50800" bIns="50800" rtlCol="0" anchor="ctr"/>
            <a:lstStyle/>
            <a:p>
              <a:pPr algn="ctr">
                <a:lnSpc>
                  <a:spcPts val="8076"/>
                </a:lnSpc>
              </a:pPr>
              <a:endParaRPr/>
            </a:p>
          </p:txBody>
        </p:sp>
      </p:grpSp>
      <p:sp>
        <p:nvSpPr>
          <p:cNvPr id="25" name="Freeform 25"/>
          <p:cNvSpPr/>
          <p:nvPr/>
        </p:nvSpPr>
        <p:spPr>
          <a:xfrm rot="-10800000">
            <a:off x="9028187" y="8598825"/>
            <a:ext cx="5128563" cy="381636"/>
          </a:xfrm>
          <a:custGeom>
            <a:avLst/>
            <a:gdLst/>
            <a:ahLst/>
            <a:cxnLst/>
            <a:rect l="l" t="t" r="r" b="b"/>
            <a:pathLst>
              <a:path w="5128563" h="381636">
                <a:moveTo>
                  <a:pt x="0" y="0"/>
                </a:moveTo>
                <a:lnTo>
                  <a:pt x="5128564" y="0"/>
                </a:lnTo>
                <a:lnTo>
                  <a:pt x="5128564" y="381636"/>
                </a:lnTo>
                <a:lnTo>
                  <a:pt x="0" y="381636"/>
                </a:lnTo>
                <a:lnTo>
                  <a:pt x="0" y="0"/>
                </a:lnTo>
                <a:close/>
              </a:path>
            </a:pathLst>
          </a:custGeom>
          <a:blipFill>
            <a:blip r:embed="rId2">
              <a:alphaModFix amt="72000"/>
            </a:blip>
            <a:stretch>
              <a:fillRect b="-286352"/>
            </a:stretch>
          </a:blipFill>
        </p:spPr>
      </p:sp>
      <p:grpSp>
        <p:nvGrpSpPr>
          <p:cNvPr id="26" name="Group 26"/>
          <p:cNvGrpSpPr/>
          <p:nvPr/>
        </p:nvGrpSpPr>
        <p:grpSpPr>
          <a:xfrm>
            <a:off x="8921546" y="6579539"/>
            <a:ext cx="5334876" cy="2019286"/>
            <a:chOff x="0" y="0"/>
            <a:chExt cx="1234628" cy="467315"/>
          </a:xfrm>
        </p:grpSpPr>
        <p:sp>
          <p:nvSpPr>
            <p:cNvPr id="27" name="Freeform 27"/>
            <p:cNvSpPr/>
            <p:nvPr/>
          </p:nvSpPr>
          <p:spPr>
            <a:xfrm>
              <a:off x="0" y="0"/>
              <a:ext cx="1234628" cy="467315"/>
            </a:xfrm>
            <a:custGeom>
              <a:avLst/>
              <a:gdLst/>
              <a:ahLst/>
              <a:cxnLst/>
              <a:rect l="l" t="t" r="r" b="b"/>
              <a:pathLst>
                <a:path w="1234628" h="467315">
                  <a:moveTo>
                    <a:pt x="46438" y="0"/>
                  </a:moveTo>
                  <a:lnTo>
                    <a:pt x="1188190" y="0"/>
                  </a:lnTo>
                  <a:cubicBezTo>
                    <a:pt x="1213837" y="0"/>
                    <a:pt x="1234628" y="20791"/>
                    <a:pt x="1234628" y="46438"/>
                  </a:cubicBezTo>
                  <a:lnTo>
                    <a:pt x="1234628" y="420877"/>
                  </a:lnTo>
                  <a:cubicBezTo>
                    <a:pt x="1234628" y="446524"/>
                    <a:pt x="1213837" y="467315"/>
                    <a:pt x="1188190" y="467315"/>
                  </a:cubicBezTo>
                  <a:lnTo>
                    <a:pt x="46438" y="467315"/>
                  </a:lnTo>
                  <a:cubicBezTo>
                    <a:pt x="20791" y="467315"/>
                    <a:pt x="0" y="446524"/>
                    <a:pt x="0" y="420877"/>
                  </a:cubicBezTo>
                  <a:lnTo>
                    <a:pt x="0" y="46438"/>
                  </a:lnTo>
                  <a:cubicBezTo>
                    <a:pt x="0" y="20791"/>
                    <a:pt x="20791" y="0"/>
                    <a:pt x="46438" y="0"/>
                  </a:cubicBezTo>
                  <a:close/>
                </a:path>
              </a:pathLst>
            </a:custGeom>
            <a:solidFill>
              <a:srgbClr val="FFFFFF"/>
            </a:solidFill>
            <a:ln w="104775" cap="rnd">
              <a:solidFill>
                <a:srgbClr val="106861"/>
              </a:solidFill>
              <a:prstDash val="solid"/>
              <a:round/>
            </a:ln>
          </p:spPr>
        </p:sp>
        <p:sp>
          <p:nvSpPr>
            <p:cNvPr id="28" name="TextBox 28"/>
            <p:cNvSpPr txBox="1"/>
            <p:nvPr/>
          </p:nvSpPr>
          <p:spPr>
            <a:xfrm>
              <a:off x="0" y="-38100"/>
              <a:ext cx="1234628" cy="505415"/>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29" name="Group 29"/>
          <p:cNvGrpSpPr/>
          <p:nvPr/>
        </p:nvGrpSpPr>
        <p:grpSpPr>
          <a:xfrm>
            <a:off x="8307532" y="7032444"/>
            <a:ext cx="1228028" cy="1226514"/>
            <a:chOff x="0" y="0"/>
            <a:chExt cx="323431" cy="323032"/>
          </a:xfrm>
        </p:grpSpPr>
        <p:sp>
          <p:nvSpPr>
            <p:cNvPr id="30" name="Freeform 30"/>
            <p:cNvSpPr/>
            <p:nvPr/>
          </p:nvSpPr>
          <p:spPr>
            <a:xfrm>
              <a:off x="0" y="0"/>
              <a:ext cx="323431" cy="323032"/>
            </a:xfrm>
            <a:custGeom>
              <a:avLst/>
              <a:gdLst/>
              <a:ahLst/>
              <a:cxnLst/>
              <a:rect l="l" t="t" r="r" b="b"/>
              <a:pathLst>
                <a:path w="323431" h="323032">
                  <a:moveTo>
                    <a:pt x="0" y="0"/>
                  </a:moveTo>
                  <a:lnTo>
                    <a:pt x="323431" y="0"/>
                  </a:lnTo>
                  <a:lnTo>
                    <a:pt x="323431" y="323032"/>
                  </a:lnTo>
                  <a:lnTo>
                    <a:pt x="0" y="323032"/>
                  </a:lnTo>
                  <a:close/>
                </a:path>
              </a:pathLst>
            </a:custGeom>
            <a:solidFill>
              <a:srgbClr val="FFFFFF"/>
            </a:solidFill>
          </p:spPr>
        </p:sp>
        <p:sp>
          <p:nvSpPr>
            <p:cNvPr id="31" name="TextBox 31"/>
            <p:cNvSpPr txBox="1"/>
            <p:nvPr/>
          </p:nvSpPr>
          <p:spPr>
            <a:xfrm>
              <a:off x="0" y="-114300"/>
              <a:ext cx="323431" cy="437332"/>
            </a:xfrm>
            <a:prstGeom prst="rect">
              <a:avLst/>
            </a:prstGeom>
          </p:spPr>
          <p:txBody>
            <a:bodyPr lIns="50800" tIns="50800" rIns="50800" bIns="50800" rtlCol="0" anchor="ctr"/>
            <a:lstStyle/>
            <a:p>
              <a:pPr algn="ctr">
                <a:lnSpc>
                  <a:spcPts val="8076"/>
                </a:lnSpc>
              </a:pPr>
              <a:endParaRPr/>
            </a:p>
          </p:txBody>
        </p:sp>
      </p:grpSp>
      <p:grpSp>
        <p:nvGrpSpPr>
          <p:cNvPr id="32" name="Group 32"/>
          <p:cNvGrpSpPr/>
          <p:nvPr/>
        </p:nvGrpSpPr>
        <p:grpSpPr>
          <a:xfrm>
            <a:off x="4809335" y="8388753"/>
            <a:ext cx="1183417" cy="1183417"/>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sp>
        <p:sp>
          <p:nvSpPr>
            <p:cNvPr id="34" name="TextBox 34"/>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35" name="Group 35"/>
          <p:cNvGrpSpPr/>
          <p:nvPr/>
        </p:nvGrpSpPr>
        <p:grpSpPr>
          <a:xfrm>
            <a:off x="8307532" y="1952117"/>
            <a:ext cx="1082862" cy="108286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14300" cap="sq">
              <a:solidFill>
                <a:srgbClr val="106861"/>
              </a:solidFill>
              <a:prstDash val="solid"/>
              <a:miter/>
            </a:ln>
          </p:spPr>
        </p:sp>
        <p:sp>
          <p:nvSpPr>
            <p:cNvPr id="37" name="TextBox 37"/>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38" name="TextBox 38"/>
          <p:cNvSpPr txBox="1"/>
          <p:nvPr/>
        </p:nvSpPr>
        <p:spPr>
          <a:xfrm>
            <a:off x="959563" y="3744011"/>
            <a:ext cx="7071744" cy="941661"/>
          </a:xfrm>
          <a:prstGeom prst="rect">
            <a:avLst/>
          </a:prstGeom>
        </p:spPr>
        <p:txBody>
          <a:bodyPr lIns="0" tIns="0" rIns="0" bIns="0" rtlCol="0" anchor="t">
            <a:spAutoFit/>
          </a:bodyPr>
          <a:lstStyle/>
          <a:p>
            <a:pPr marL="0" lvl="0" indent="0" algn="l">
              <a:lnSpc>
                <a:spcPts val="7660"/>
              </a:lnSpc>
              <a:spcBef>
                <a:spcPct val="0"/>
              </a:spcBef>
            </a:pPr>
            <a:r>
              <a:rPr lang="en-US" sz="5472" b="1" spc="-109">
                <a:solidFill>
                  <a:srgbClr val="191919"/>
                </a:solidFill>
                <a:latin typeface="Open Sauce Bold"/>
                <a:ea typeface="Open Sauce Bold"/>
                <a:cs typeface="Open Sauce Bold"/>
                <a:sym typeface="Open Sauce Bold"/>
              </a:rPr>
              <a:t>Business Impact</a:t>
            </a:r>
          </a:p>
        </p:txBody>
      </p:sp>
      <p:sp>
        <p:nvSpPr>
          <p:cNvPr id="39" name="TextBox 39"/>
          <p:cNvSpPr txBox="1"/>
          <p:nvPr/>
        </p:nvSpPr>
        <p:spPr>
          <a:xfrm>
            <a:off x="9584961" y="2179975"/>
            <a:ext cx="4183100" cy="876452"/>
          </a:xfrm>
          <a:prstGeom prst="rect">
            <a:avLst/>
          </a:prstGeom>
        </p:spPr>
        <p:txBody>
          <a:bodyPr lIns="0" tIns="0" rIns="0" bIns="0" rtlCol="0" anchor="t">
            <a:spAutoFit/>
          </a:bodyPr>
          <a:lstStyle/>
          <a:p>
            <a:pPr marL="401574" lvl="1" indent="-200787" algn="l">
              <a:lnSpc>
                <a:spcPts val="2380"/>
              </a:lnSpc>
              <a:buFont typeface="Arial"/>
              <a:buChar char="•"/>
            </a:pPr>
            <a:r>
              <a:rPr lang="en-US" sz="1860">
                <a:solidFill>
                  <a:srgbClr val="231F20"/>
                </a:solidFill>
                <a:latin typeface="Open Sauce"/>
                <a:ea typeface="Open Sauce"/>
                <a:cs typeface="Open Sauce"/>
                <a:sym typeface="Open Sauce"/>
              </a:rPr>
              <a:t>Using Artificial intelligence for image classification reduces manual effort by up to 90%</a:t>
            </a:r>
          </a:p>
        </p:txBody>
      </p:sp>
      <p:sp>
        <p:nvSpPr>
          <p:cNvPr id="40" name="TextBox 40"/>
          <p:cNvSpPr txBox="1"/>
          <p:nvPr/>
        </p:nvSpPr>
        <p:spPr>
          <a:xfrm>
            <a:off x="9667546" y="1715095"/>
            <a:ext cx="4100514" cy="376096"/>
          </a:xfrm>
          <a:prstGeom prst="rect">
            <a:avLst/>
          </a:prstGeom>
        </p:spPr>
        <p:txBody>
          <a:bodyPr lIns="0" tIns="0" rIns="0" bIns="0" rtlCol="0" anchor="t">
            <a:spAutoFit/>
          </a:bodyPr>
          <a:lstStyle/>
          <a:p>
            <a:pPr marL="0" lvl="0" indent="0" algn="l">
              <a:lnSpc>
                <a:spcPts val="3017"/>
              </a:lnSpc>
              <a:spcBef>
                <a:spcPct val="0"/>
              </a:spcBef>
            </a:pPr>
            <a:r>
              <a:rPr lang="en-US" sz="2357" b="1">
                <a:solidFill>
                  <a:srgbClr val="333231"/>
                </a:solidFill>
                <a:latin typeface="Open Sauce Bold"/>
                <a:ea typeface="Open Sauce Bold"/>
                <a:cs typeface="Open Sauce Bold"/>
                <a:sym typeface="Open Sauce Bold"/>
              </a:rPr>
              <a:t>Efficiency</a:t>
            </a:r>
          </a:p>
        </p:txBody>
      </p:sp>
      <p:sp>
        <p:nvSpPr>
          <p:cNvPr id="41" name="TextBox 41"/>
          <p:cNvSpPr txBox="1"/>
          <p:nvPr/>
        </p:nvSpPr>
        <p:spPr>
          <a:xfrm>
            <a:off x="9584961" y="4676148"/>
            <a:ext cx="4183100" cy="876452"/>
          </a:xfrm>
          <a:prstGeom prst="rect">
            <a:avLst/>
          </a:prstGeom>
        </p:spPr>
        <p:txBody>
          <a:bodyPr lIns="0" tIns="0" rIns="0" bIns="0" rtlCol="0" anchor="t">
            <a:spAutoFit/>
          </a:bodyPr>
          <a:lstStyle/>
          <a:p>
            <a:pPr marL="401574" lvl="1" indent="-200787" algn="l">
              <a:lnSpc>
                <a:spcPts val="2380"/>
              </a:lnSpc>
              <a:buFont typeface="Arial"/>
              <a:buChar char="•"/>
            </a:pPr>
            <a:r>
              <a:rPr lang="en-US" sz="1860">
                <a:solidFill>
                  <a:srgbClr val="231F20"/>
                </a:solidFill>
                <a:latin typeface="Open Sauce"/>
                <a:ea typeface="Open Sauce"/>
                <a:cs typeface="Open Sauce"/>
                <a:sym typeface="Open Sauce"/>
              </a:rPr>
              <a:t>With a good model, you get consistent classification and removes human error</a:t>
            </a:r>
          </a:p>
        </p:txBody>
      </p:sp>
      <p:sp>
        <p:nvSpPr>
          <p:cNvPr id="42" name="TextBox 42"/>
          <p:cNvSpPr txBox="1"/>
          <p:nvPr/>
        </p:nvSpPr>
        <p:spPr>
          <a:xfrm>
            <a:off x="9667546" y="4211268"/>
            <a:ext cx="4100514" cy="376096"/>
          </a:xfrm>
          <a:prstGeom prst="rect">
            <a:avLst/>
          </a:prstGeom>
        </p:spPr>
        <p:txBody>
          <a:bodyPr lIns="0" tIns="0" rIns="0" bIns="0" rtlCol="0" anchor="t">
            <a:spAutoFit/>
          </a:bodyPr>
          <a:lstStyle/>
          <a:p>
            <a:pPr marL="0" lvl="0" indent="0" algn="l">
              <a:lnSpc>
                <a:spcPts val="3017"/>
              </a:lnSpc>
              <a:spcBef>
                <a:spcPct val="0"/>
              </a:spcBef>
            </a:pPr>
            <a:r>
              <a:rPr lang="en-US" sz="2357" b="1">
                <a:solidFill>
                  <a:srgbClr val="333231"/>
                </a:solidFill>
                <a:latin typeface="Open Sauce Bold"/>
                <a:ea typeface="Open Sauce Bold"/>
                <a:cs typeface="Open Sauce Bold"/>
                <a:sym typeface="Open Sauce Bold"/>
              </a:rPr>
              <a:t>Accuracy</a:t>
            </a:r>
          </a:p>
        </p:txBody>
      </p:sp>
      <p:sp>
        <p:nvSpPr>
          <p:cNvPr id="43" name="TextBox 43"/>
          <p:cNvSpPr txBox="1"/>
          <p:nvPr/>
        </p:nvSpPr>
        <p:spPr>
          <a:xfrm>
            <a:off x="9463950" y="7331187"/>
            <a:ext cx="4304110" cy="876447"/>
          </a:xfrm>
          <a:prstGeom prst="rect">
            <a:avLst/>
          </a:prstGeom>
        </p:spPr>
        <p:txBody>
          <a:bodyPr lIns="0" tIns="0" rIns="0" bIns="0" rtlCol="0" anchor="t">
            <a:spAutoFit/>
          </a:bodyPr>
          <a:lstStyle/>
          <a:p>
            <a:pPr marL="401684" lvl="1" indent="-200842" algn="l">
              <a:lnSpc>
                <a:spcPts val="2381"/>
              </a:lnSpc>
              <a:buFont typeface="Arial"/>
              <a:buChar char="•"/>
            </a:pPr>
            <a:r>
              <a:rPr lang="en-US" sz="1860">
                <a:solidFill>
                  <a:srgbClr val="231F20"/>
                </a:solidFill>
                <a:latin typeface="Open Sauce"/>
                <a:ea typeface="Open Sauce"/>
                <a:cs typeface="Open Sauce"/>
                <a:sym typeface="Open Sauce"/>
              </a:rPr>
              <a:t>Such a project is easily extended to new parks, regions, and species.</a:t>
            </a:r>
          </a:p>
        </p:txBody>
      </p:sp>
      <p:sp>
        <p:nvSpPr>
          <p:cNvPr id="44" name="TextBox 44"/>
          <p:cNvSpPr txBox="1"/>
          <p:nvPr/>
        </p:nvSpPr>
        <p:spPr>
          <a:xfrm>
            <a:off x="9667546" y="6869366"/>
            <a:ext cx="4100514" cy="376096"/>
          </a:xfrm>
          <a:prstGeom prst="rect">
            <a:avLst/>
          </a:prstGeom>
        </p:spPr>
        <p:txBody>
          <a:bodyPr lIns="0" tIns="0" rIns="0" bIns="0" rtlCol="0" anchor="t">
            <a:spAutoFit/>
          </a:bodyPr>
          <a:lstStyle/>
          <a:p>
            <a:pPr marL="0" lvl="0" indent="0" algn="l">
              <a:lnSpc>
                <a:spcPts val="3017"/>
              </a:lnSpc>
              <a:spcBef>
                <a:spcPct val="0"/>
              </a:spcBef>
            </a:pPr>
            <a:r>
              <a:rPr lang="en-US" sz="2357" b="1">
                <a:solidFill>
                  <a:srgbClr val="333231"/>
                </a:solidFill>
                <a:latin typeface="Open Sauce Bold"/>
                <a:ea typeface="Open Sauce Bold"/>
                <a:cs typeface="Open Sauce Bold"/>
                <a:sym typeface="Open Sauce Bold"/>
              </a:rPr>
              <a:t>Scalability</a:t>
            </a:r>
          </a:p>
        </p:txBody>
      </p:sp>
      <p:grpSp>
        <p:nvGrpSpPr>
          <p:cNvPr id="45" name="Group 45"/>
          <p:cNvGrpSpPr/>
          <p:nvPr/>
        </p:nvGrpSpPr>
        <p:grpSpPr>
          <a:xfrm>
            <a:off x="8307532" y="4423052"/>
            <a:ext cx="1082862" cy="1082862"/>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14300" cap="sq">
              <a:solidFill>
                <a:srgbClr val="106861"/>
              </a:solidFill>
              <a:prstDash val="solid"/>
              <a:miter/>
            </a:ln>
          </p:spPr>
        </p:sp>
        <p:sp>
          <p:nvSpPr>
            <p:cNvPr id="47" name="TextBox 47"/>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48" name="Group 48"/>
          <p:cNvGrpSpPr/>
          <p:nvPr/>
        </p:nvGrpSpPr>
        <p:grpSpPr>
          <a:xfrm>
            <a:off x="8307532" y="7104270"/>
            <a:ext cx="1082862" cy="1082862"/>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14300" cap="sq">
              <a:solidFill>
                <a:srgbClr val="106861"/>
              </a:solidFill>
              <a:prstDash val="solid"/>
              <a:miter/>
            </a:ln>
          </p:spPr>
        </p:sp>
        <p:sp>
          <p:nvSpPr>
            <p:cNvPr id="50" name="TextBox 50"/>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C5739"/>
        </a:solidFill>
        <a:effectLst/>
      </p:bgPr>
    </p:bg>
    <p:spTree>
      <p:nvGrpSpPr>
        <p:cNvPr id="1" name=""/>
        <p:cNvGrpSpPr/>
        <p:nvPr/>
      </p:nvGrpSpPr>
      <p:grpSpPr>
        <a:xfrm>
          <a:off x="0" y="0"/>
          <a:ext cx="0" cy="0"/>
          <a:chOff x="0" y="0"/>
          <a:chExt cx="0" cy="0"/>
        </a:xfrm>
      </p:grpSpPr>
      <p:grpSp>
        <p:nvGrpSpPr>
          <p:cNvPr id="2" name="Group 2"/>
          <p:cNvGrpSpPr/>
          <p:nvPr/>
        </p:nvGrpSpPr>
        <p:grpSpPr>
          <a:xfrm>
            <a:off x="1038752" y="6705276"/>
            <a:ext cx="6630790" cy="3581724"/>
            <a:chOff x="0" y="0"/>
            <a:chExt cx="1746381" cy="943335"/>
          </a:xfrm>
        </p:grpSpPr>
        <p:sp>
          <p:nvSpPr>
            <p:cNvPr id="3" name="Freeform 3"/>
            <p:cNvSpPr/>
            <p:nvPr/>
          </p:nvSpPr>
          <p:spPr>
            <a:xfrm>
              <a:off x="0" y="0"/>
              <a:ext cx="1746381" cy="943335"/>
            </a:xfrm>
            <a:custGeom>
              <a:avLst/>
              <a:gdLst/>
              <a:ahLst/>
              <a:cxnLst/>
              <a:rect l="l" t="t" r="r" b="b"/>
              <a:pathLst>
                <a:path w="1746381" h="943335">
                  <a:moveTo>
                    <a:pt x="0" y="0"/>
                  </a:moveTo>
                  <a:lnTo>
                    <a:pt x="1746381" y="0"/>
                  </a:lnTo>
                  <a:lnTo>
                    <a:pt x="1746381" y="943335"/>
                  </a:lnTo>
                  <a:lnTo>
                    <a:pt x="0" y="943335"/>
                  </a:lnTo>
                  <a:close/>
                </a:path>
              </a:pathLst>
            </a:custGeom>
            <a:solidFill>
              <a:srgbClr val="FDFBFB"/>
            </a:solidFill>
            <a:ln cap="sq">
              <a:noFill/>
              <a:prstDash val="solid"/>
              <a:miter/>
            </a:ln>
          </p:spPr>
        </p:sp>
        <p:sp>
          <p:nvSpPr>
            <p:cNvPr id="4" name="TextBox 4"/>
            <p:cNvSpPr txBox="1"/>
            <p:nvPr/>
          </p:nvSpPr>
          <p:spPr>
            <a:xfrm>
              <a:off x="0" y="-47625"/>
              <a:ext cx="1746381" cy="990960"/>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5" name="Freeform 5"/>
          <p:cNvSpPr/>
          <p:nvPr/>
        </p:nvSpPr>
        <p:spPr>
          <a:xfrm rot="-5400000">
            <a:off x="2593130" y="3880972"/>
            <a:ext cx="3522035" cy="7232621"/>
          </a:xfrm>
          <a:custGeom>
            <a:avLst/>
            <a:gdLst/>
            <a:ahLst/>
            <a:cxnLst/>
            <a:rect l="l" t="t" r="r" b="b"/>
            <a:pathLst>
              <a:path w="3522035" h="7232621">
                <a:moveTo>
                  <a:pt x="0" y="0"/>
                </a:moveTo>
                <a:lnTo>
                  <a:pt x="3522034" y="0"/>
                </a:lnTo>
                <a:lnTo>
                  <a:pt x="3522034" y="7232621"/>
                </a:lnTo>
                <a:lnTo>
                  <a:pt x="0" y="7232621"/>
                </a:lnTo>
                <a:lnTo>
                  <a:pt x="0" y="0"/>
                </a:lnTo>
                <a:close/>
              </a:path>
            </a:pathLst>
          </a:custGeom>
          <a:blipFill>
            <a:blip r:embed="rId2">
              <a:alphaModFix amt="64000"/>
            </a:blip>
            <a:stretch>
              <a:fillRect l="-1702"/>
            </a:stretch>
          </a:blipFill>
        </p:spPr>
      </p:sp>
      <p:grpSp>
        <p:nvGrpSpPr>
          <p:cNvPr id="6" name="Group 6"/>
          <p:cNvGrpSpPr/>
          <p:nvPr/>
        </p:nvGrpSpPr>
        <p:grpSpPr>
          <a:xfrm>
            <a:off x="0" y="0"/>
            <a:ext cx="18288000" cy="3926821"/>
            <a:chOff x="0" y="0"/>
            <a:chExt cx="4816593" cy="1034225"/>
          </a:xfrm>
        </p:grpSpPr>
        <p:sp>
          <p:nvSpPr>
            <p:cNvPr id="7" name="Freeform 7"/>
            <p:cNvSpPr/>
            <p:nvPr/>
          </p:nvSpPr>
          <p:spPr>
            <a:xfrm>
              <a:off x="0" y="0"/>
              <a:ext cx="4816592" cy="1034225"/>
            </a:xfrm>
            <a:custGeom>
              <a:avLst/>
              <a:gdLst/>
              <a:ahLst/>
              <a:cxnLst/>
              <a:rect l="l" t="t" r="r" b="b"/>
              <a:pathLst>
                <a:path w="4816592" h="1034225">
                  <a:moveTo>
                    <a:pt x="0" y="0"/>
                  </a:moveTo>
                  <a:lnTo>
                    <a:pt x="4816592" y="0"/>
                  </a:lnTo>
                  <a:lnTo>
                    <a:pt x="4816592" y="1034225"/>
                  </a:lnTo>
                  <a:lnTo>
                    <a:pt x="0" y="1034225"/>
                  </a:lnTo>
                  <a:close/>
                </a:path>
              </a:pathLst>
            </a:custGeom>
            <a:solidFill>
              <a:srgbClr val="FDFBFB"/>
            </a:solidFill>
          </p:spPr>
        </p:sp>
        <p:sp>
          <p:nvSpPr>
            <p:cNvPr id="8" name="TextBox 8"/>
            <p:cNvSpPr txBox="1"/>
            <p:nvPr/>
          </p:nvSpPr>
          <p:spPr>
            <a:xfrm>
              <a:off x="0" y="-47625"/>
              <a:ext cx="4816593" cy="1081850"/>
            </a:xfrm>
            <a:prstGeom prst="rect">
              <a:avLst/>
            </a:prstGeom>
          </p:spPr>
          <p:txBody>
            <a:bodyPr lIns="50800" tIns="50800" rIns="50800" bIns="50800" rtlCol="0" anchor="ctr"/>
            <a:lstStyle/>
            <a:p>
              <a:pPr algn="ctr">
                <a:lnSpc>
                  <a:spcPts val="3500"/>
                </a:lnSpc>
              </a:pPr>
              <a:endParaRPr/>
            </a:p>
          </p:txBody>
        </p:sp>
      </p:grpSp>
      <p:grpSp>
        <p:nvGrpSpPr>
          <p:cNvPr id="9" name="Group 9"/>
          <p:cNvGrpSpPr/>
          <p:nvPr/>
        </p:nvGrpSpPr>
        <p:grpSpPr>
          <a:xfrm>
            <a:off x="1038752" y="1215059"/>
            <a:ext cx="6630790" cy="7406095"/>
            <a:chOff x="0" y="0"/>
            <a:chExt cx="1027283" cy="1147398"/>
          </a:xfrm>
        </p:grpSpPr>
        <p:sp>
          <p:nvSpPr>
            <p:cNvPr id="10" name="Freeform 10"/>
            <p:cNvSpPr/>
            <p:nvPr/>
          </p:nvSpPr>
          <p:spPr>
            <a:xfrm>
              <a:off x="0" y="0"/>
              <a:ext cx="1027283" cy="1147398"/>
            </a:xfrm>
            <a:custGeom>
              <a:avLst/>
              <a:gdLst/>
              <a:ahLst/>
              <a:cxnLst/>
              <a:rect l="l" t="t" r="r" b="b"/>
              <a:pathLst>
                <a:path w="1027283" h="1147398">
                  <a:moveTo>
                    <a:pt x="0" y="0"/>
                  </a:moveTo>
                  <a:lnTo>
                    <a:pt x="1027283" y="0"/>
                  </a:lnTo>
                  <a:lnTo>
                    <a:pt x="1027283" y="1147398"/>
                  </a:lnTo>
                  <a:lnTo>
                    <a:pt x="0" y="1147398"/>
                  </a:lnTo>
                  <a:close/>
                </a:path>
              </a:pathLst>
            </a:custGeom>
            <a:blipFill>
              <a:blip r:embed="rId3"/>
              <a:stretch>
                <a:fillRect l="-100296" r="-100296"/>
              </a:stretch>
            </a:blipFill>
          </p:spPr>
        </p:sp>
      </p:grpSp>
      <p:sp>
        <p:nvSpPr>
          <p:cNvPr id="11" name="Freeform 11"/>
          <p:cNvSpPr/>
          <p:nvPr/>
        </p:nvSpPr>
        <p:spPr>
          <a:xfrm>
            <a:off x="8654754" y="2650538"/>
            <a:ext cx="2158989" cy="321886"/>
          </a:xfrm>
          <a:custGeom>
            <a:avLst/>
            <a:gdLst/>
            <a:ahLst/>
            <a:cxnLst/>
            <a:rect l="l" t="t" r="r" b="b"/>
            <a:pathLst>
              <a:path w="2158989" h="321886">
                <a:moveTo>
                  <a:pt x="0" y="0"/>
                </a:moveTo>
                <a:lnTo>
                  <a:pt x="2158989" y="0"/>
                </a:lnTo>
                <a:lnTo>
                  <a:pt x="2158989" y="321886"/>
                </a:lnTo>
                <a:lnTo>
                  <a:pt x="0" y="3218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8654754" y="4738680"/>
            <a:ext cx="7724452" cy="797262"/>
          </a:xfrm>
          <a:prstGeom prst="rect">
            <a:avLst/>
          </a:prstGeom>
        </p:spPr>
        <p:txBody>
          <a:bodyPr lIns="0" tIns="0" rIns="0" bIns="0" rtlCol="0" anchor="t">
            <a:spAutoFit/>
          </a:bodyPr>
          <a:lstStyle/>
          <a:p>
            <a:pPr marL="0" lvl="0" indent="0" algn="l">
              <a:lnSpc>
                <a:spcPts val="5876"/>
              </a:lnSpc>
              <a:spcBef>
                <a:spcPct val="0"/>
              </a:spcBef>
            </a:pPr>
            <a:r>
              <a:rPr lang="en-US" sz="5066" spc="547">
                <a:solidFill>
                  <a:srgbClr val="FFFFFF"/>
                </a:solidFill>
                <a:latin typeface="Poppins"/>
                <a:ea typeface="Poppins"/>
                <a:cs typeface="Poppins"/>
                <a:sym typeface="Poppins"/>
              </a:rPr>
              <a:t>RESULTS</a:t>
            </a:r>
          </a:p>
        </p:txBody>
      </p:sp>
      <p:sp>
        <p:nvSpPr>
          <p:cNvPr id="13" name="TextBox 13"/>
          <p:cNvSpPr txBox="1"/>
          <p:nvPr/>
        </p:nvSpPr>
        <p:spPr>
          <a:xfrm>
            <a:off x="8654754" y="6277610"/>
            <a:ext cx="8866358" cy="2980690"/>
          </a:xfrm>
          <a:prstGeom prst="rect">
            <a:avLst/>
          </a:prstGeom>
        </p:spPr>
        <p:txBody>
          <a:bodyPr lIns="0" tIns="0" rIns="0" bIns="0" rtlCol="0" anchor="t">
            <a:spAutoFit/>
          </a:bodyPr>
          <a:lstStyle/>
          <a:p>
            <a:pPr algn="l">
              <a:lnSpc>
                <a:spcPts val="4759"/>
              </a:lnSpc>
            </a:pPr>
            <a:r>
              <a:rPr lang="en-US" sz="3399">
                <a:solidFill>
                  <a:srgbClr val="FFFFFF"/>
                </a:solidFill>
                <a:latin typeface="Canva Sans"/>
                <a:ea typeface="Canva Sans"/>
                <a:cs typeface="Canva Sans"/>
                <a:sym typeface="Canva Sans"/>
              </a:rPr>
              <a:t>We have created an image classification model capable of identifying images with high accuracy. This model has now been deployed using Flask is available for you to use.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sp>
      <p:sp>
        <p:nvSpPr>
          <p:cNvPr id="3" name="Freeform 3"/>
          <p:cNvSpPr/>
          <p:nvPr/>
        </p:nvSpPr>
        <p:spPr>
          <a:xfrm>
            <a:off x="14994300" y="3675559"/>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grpSp>
        <p:nvGrpSpPr>
          <p:cNvPr id="4" name="Group 4"/>
          <p:cNvGrpSpPr/>
          <p:nvPr/>
        </p:nvGrpSpPr>
        <p:grpSpPr>
          <a:xfrm>
            <a:off x="-2364371" y="-2474096"/>
            <a:ext cx="5578401" cy="557840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id="6" name="TextBox 6"/>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p:cNvGrpSpPr/>
          <p:nvPr/>
        </p:nvGrpSpPr>
        <p:grpSpPr>
          <a:xfrm>
            <a:off x="1256350" y="3876969"/>
            <a:ext cx="1010697" cy="101069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id="9" name="TextBox 9"/>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p:cNvGrpSpPr/>
          <p:nvPr/>
        </p:nvGrpSpPr>
        <p:grpSpPr>
          <a:xfrm>
            <a:off x="4856034" y="3348832"/>
            <a:ext cx="8575931" cy="3086100"/>
            <a:chOff x="0" y="0"/>
            <a:chExt cx="2258681" cy="812800"/>
          </a:xfrm>
        </p:grpSpPr>
        <p:sp>
          <p:nvSpPr>
            <p:cNvPr id="11" name="Freeform 11"/>
            <p:cNvSpPr/>
            <p:nvPr/>
          </p:nvSpPr>
          <p:spPr>
            <a:xfrm>
              <a:off x="0" y="0"/>
              <a:ext cx="2258682" cy="812800"/>
            </a:xfrm>
            <a:custGeom>
              <a:avLst/>
              <a:gdLst/>
              <a:ahLst/>
              <a:cxnLst/>
              <a:rect l="l" t="t" r="r" b="b"/>
              <a:pathLst>
                <a:path w="2258682" h="812800">
                  <a:moveTo>
                    <a:pt x="37013" y="0"/>
                  </a:moveTo>
                  <a:lnTo>
                    <a:pt x="2221669" y="0"/>
                  </a:lnTo>
                  <a:cubicBezTo>
                    <a:pt x="2231485" y="0"/>
                    <a:pt x="2240899" y="3900"/>
                    <a:pt x="2247841" y="10841"/>
                  </a:cubicBezTo>
                  <a:cubicBezTo>
                    <a:pt x="2254782" y="17782"/>
                    <a:pt x="2258682" y="27196"/>
                    <a:pt x="2258682" y="37013"/>
                  </a:cubicBezTo>
                  <a:lnTo>
                    <a:pt x="2258682" y="775787"/>
                  </a:lnTo>
                  <a:cubicBezTo>
                    <a:pt x="2258682" y="796229"/>
                    <a:pt x="2242110" y="812800"/>
                    <a:pt x="2221669" y="812800"/>
                  </a:cubicBezTo>
                  <a:lnTo>
                    <a:pt x="37013" y="812800"/>
                  </a:lnTo>
                  <a:cubicBezTo>
                    <a:pt x="27196" y="812800"/>
                    <a:pt x="17782" y="808900"/>
                    <a:pt x="10841" y="801959"/>
                  </a:cubicBezTo>
                  <a:cubicBezTo>
                    <a:pt x="3900" y="795018"/>
                    <a:pt x="0" y="785604"/>
                    <a:pt x="0" y="775787"/>
                  </a:cubicBezTo>
                  <a:lnTo>
                    <a:pt x="0" y="37013"/>
                  </a:lnTo>
                  <a:cubicBezTo>
                    <a:pt x="0" y="27196"/>
                    <a:pt x="3900" y="17782"/>
                    <a:pt x="10841" y="10841"/>
                  </a:cubicBezTo>
                  <a:cubicBezTo>
                    <a:pt x="17782" y="3900"/>
                    <a:pt x="27196" y="0"/>
                    <a:pt x="37013" y="0"/>
                  </a:cubicBezTo>
                  <a:close/>
                </a:path>
              </a:pathLst>
            </a:custGeom>
            <a:solidFill>
              <a:srgbClr val="106861"/>
            </a:solidFill>
            <a:ln w="66675" cap="rnd">
              <a:solidFill>
                <a:srgbClr val="FFFFFF"/>
              </a:solidFill>
              <a:prstDash val="solid"/>
              <a:round/>
            </a:ln>
          </p:spPr>
        </p:sp>
        <p:sp>
          <p:nvSpPr>
            <p:cNvPr id="12" name="TextBox 12"/>
            <p:cNvSpPr txBox="1"/>
            <p:nvPr/>
          </p:nvSpPr>
          <p:spPr>
            <a:xfrm>
              <a:off x="0" y="-28575"/>
              <a:ext cx="2258681" cy="841375"/>
            </a:xfrm>
            <a:prstGeom prst="rect">
              <a:avLst/>
            </a:prstGeom>
          </p:spPr>
          <p:txBody>
            <a:bodyPr lIns="50800" tIns="50800" rIns="50800" bIns="50800" rtlCol="0" anchor="ctr"/>
            <a:lstStyle/>
            <a:p>
              <a:pPr marL="0" lvl="0" indent="0" algn="ctr">
                <a:lnSpc>
                  <a:spcPts val="2484"/>
                </a:lnSpc>
                <a:spcBef>
                  <a:spcPct val="0"/>
                </a:spcBef>
              </a:pPr>
              <a:endParaRPr/>
            </a:p>
          </p:txBody>
        </p:sp>
      </p:grpSp>
      <p:sp>
        <p:nvSpPr>
          <p:cNvPr id="13" name="TextBox 13"/>
          <p:cNvSpPr txBox="1"/>
          <p:nvPr/>
        </p:nvSpPr>
        <p:spPr>
          <a:xfrm>
            <a:off x="5173311" y="3944176"/>
            <a:ext cx="7941379" cy="1715531"/>
          </a:xfrm>
          <a:prstGeom prst="rect">
            <a:avLst/>
          </a:prstGeom>
        </p:spPr>
        <p:txBody>
          <a:bodyPr lIns="0" tIns="0" rIns="0" bIns="0" rtlCol="0" anchor="t">
            <a:spAutoFit/>
          </a:bodyPr>
          <a:lstStyle/>
          <a:p>
            <a:pPr algn="ctr">
              <a:lnSpc>
                <a:spcPts val="14009"/>
              </a:lnSpc>
              <a:spcBef>
                <a:spcPct val="0"/>
              </a:spcBef>
            </a:pPr>
            <a:r>
              <a:rPr lang="en-US" sz="10151" b="1">
                <a:solidFill>
                  <a:srgbClr val="FFFFFF"/>
                </a:solidFill>
                <a:latin typeface="Open Sauce Bold"/>
                <a:ea typeface="Open Sauce Bold"/>
                <a:cs typeface="Open Sauce Bold"/>
                <a:sym typeface="Open Sauce Bold"/>
              </a:rPr>
              <a:t>Deployment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5459075" y="-2828925"/>
            <a:ext cx="5657850" cy="56578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id="4" name="TextBox 4"/>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5" name="Group 5"/>
          <p:cNvGrpSpPr/>
          <p:nvPr/>
        </p:nvGrpSpPr>
        <p:grpSpPr>
          <a:xfrm>
            <a:off x="-1390959" y="8567821"/>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id="7" name="TextBox 7"/>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8" name="Group 8"/>
          <p:cNvGrpSpPr/>
          <p:nvPr/>
        </p:nvGrpSpPr>
        <p:grpSpPr>
          <a:xfrm>
            <a:off x="15778673" y="2680459"/>
            <a:ext cx="654889" cy="65488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id="10" name="TextBox 10"/>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11" name="TextBox 11"/>
          <p:cNvSpPr txBox="1"/>
          <p:nvPr/>
        </p:nvSpPr>
        <p:spPr>
          <a:xfrm>
            <a:off x="5967174" y="4274503"/>
            <a:ext cx="6353651"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1258</TotalTime>
  <Words>764</Words>
  <Application>Microsoft Office PowerPoint</Application>
  <PresentationFormat>Custom</PresentationFormat>
  <Paragraphs>120</Paragraphs>
  <Slides>15</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Open Sauce</vt:lpstr>
      <vt:lpstr>Poppins</vt:lpstr>
      <vt:lpstr>Canva Sans</vt:lpstr>
      <vt:lpstr>Arial</vt:lpstr>
      <vt:lpstr>Montserrat</vt:lpstr>
      <vt:lpstr>Open Sauce Heavy</vt:lpstr>
      <vt:lpstr>Canva Sans Bold</vt:lpstr>
      <vt:lpstr>Open Sauce Italics</vt:lpstr>
      <vt:lpstr>Open Sauce Bold</vt:lpstr>
      <vt:lpstr>Montserrat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True Positives</dc:title>
  <dc:creator>user</dc:creator>
  <cp:lastModifiedBy>user</cp:lastModifiedBy>
  <cp:revision>3</cp:revision>
  <dcterms:created xsi:type="dcterms:W3CDTF">2006-08-16T00:00:00Z</dcterms:created>
  <dcterms:modified xsi:type="dcterms:W3CDTF">2025-05-13T06:27:34Z</dcterms:modified>
  <dc:identifier>DAGmpj8sYYY</dc:identifier>
</cp:coreProperties>
</file>